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731520"/>
            <a:ext cx="3200400" cy="3200400"/>
          </a:xfrm>
          <a:prstGeom prst="ellipse">
            <a:avLst/>
          </a:prstGeom>
          <a:solidFill>
            <a:srgbClr val="408EC6">
              <a:alpha val="2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914400" y="3200400"/>
            <a:ext cx="2743200" cy="2743200"/>
          </a:xfrm>
          <a:prstGeom prst="ellipse">
            <a:avLst/>
          </a:prstGeom>
          <a:solidFill>
            <a:srgbClr val="7A2048">
              <a:alpha val="2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1097280"/>
            <a:ext cx="1005840" cy="411480"/>
          </a:xfrm>
          <a:prstGeom prst="rect">
            <a:avLst/>
          </a:prstGeom>
          <a:solidFill>
            <a:srgbClr val="7A2048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09728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01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169164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Hello World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731520" y="2651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408E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最小可運行範例 — Client 生命週期 + send_and_wait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31520" y="356616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AB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0" y="470916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B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 — 第 01 課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核心概念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051560"/>
            <a:ext cx="3840480" cy="822960"/>
          </a:xfrm>
          <a:prstGeom prst="rect">
            <a:avLst/>
          </a:prstGeom>
          <a:solidFill>
            <a:srgbClr val="F0F4F8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051560"/>
            <a:ext cx="54864" cy="822960"/>
          </a:xfrm>
          <a:prstGeom prst="rect">
            <a:avLst/>
          </a:prstGeom>
          <a:solidFill>
            <a:srgbClr val="408EC6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252728"/>
            <a:ext cx="411480" cy="411480"/>
          </a:xfrm>
          <a:prstGeom prst="ellipse">
            <a:avLst/>
          </a:prstGeom>
          <a:solidFill>
            <a:srgbClr val="408EC6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25272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280160" y="114300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CopilotClient 生命週期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280160" y="14630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程式透過 SDK Client 連接 Copilot CLI，再由 CLI 呼叫 AI 模型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754880" y="1051560"/>
            <a:ext cx="3840480" cy="822960"/>
          </a:xfrm>
          <a:prstGeom prst="rect">
            <a:avLst/>
          </a:prstGeom>
          <a:solidFill>
            <a:srgbClr val="F0F4F8"/>
          </a:solidFill>
          <a:ln/>
        </p:spPr>
      </p:sp>
      <p:sp>
        <p:nvSpPr>
          <p:cNvPr id="10" name="Shape 8"/>
          <p:cNvSpPr/>
          <p:nvPr/>
        </p:nvSpPr>
        <p:spPr>
          <a:xfrm>
            <a:off x="4754880" y="1051560"/>
            <a:ext cx="54864" cy="822960"/>
          </a:xfrm>
          <a:prstGeom prst="rect">
            <a:avLst/>
          </a:prstGeom>
          <a:solidFill>
            <a:srgbClr val="7A2048"/>
          </a:solidFill>
          <a:ln/>
        </p:spPr>
      </p:sp>
      <p:sp>
        <p:nvSpPr>
          <p:cNvPr id="11" name="Shape 9"/>
          <p:cNvSpPr/>
          <p:nvPr/>
        </p:nvSpPr>
        <p:spPr>
          <a:xfrm>
            <a:off x="4937760" y="1252728"/>
            <a:ext cx="411480" cy="411480"/>
          </a:xfrm>
          <a:prstGeom prst="ellipse">
            <a:avLst/>
          </a:prstGeom>
          <a:solidFill>
            <a:srgbClr val="7A2048"/>
          </a:solidFill>
          <a:ln/>
        </p:spPr>
      </p:sp>
      <p:sp>
        <p:nvSpPr>
          <p:cNvPr id="12" name="Text 10"/>
          <p:cNvSpPr/>
          <p:nvPr/>
        </p:nvSpPr>
        <p:spPr>
          <a:xfrm>
            <a:off x="4937760" y="125272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86400" y="114300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send_and_wait（阻塞式呼叫）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486400" y="14630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送出訊息後程式會等待，直到 AI 完整回覆才繼續往下執行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2148840"/>
            <a:ext cx="3840480" cy="822960"/>
          </a:xfrm>
          <a:prstGeom prst="rect">
            <a:avLst/>
          </a:prstGeom>
          <a:solidFill>
            <a:srgbClr val="F0F4F8"/>
          </a:solidFill>
          <a:ln/>
        </p:spPr>
      </p:sp>
      <p:sp>
        <p:nvSpPr>
          <p:cNvPr id="16" name="Shape 14"/>
          <p:cNvSpPr/>
          <p:nvPr/>
        </p:nvSpPr>
        <p:spPr>
          <a:xfrm>
            <a:off x="548640" y="2148840"/>
            <a:ext cx="54864" cy="822960"/>
          </a:xfrm>
          <a:prstGeom prst="rect">
            <a:avLst/>
          </a:prstGeom>
          <a:solidFill>
            <a:srgbClr val="3D8B6E"/>
          </a:solidFill>
          <a:ln/>
        </p:spPr>
      </p:sp>
      <p:sp>
        <p:nvSpPr>
          <p:cNvPr id="17" name="Shape 15"/>
          <p:cNvSpPr/>
          <p:nvPr/>
        </p:nvSpPr>
        <p:spPr>
          <a:xfrm>
            <a:off x="731520" y="2350008"/>
            <a:ext cx="411480" cy="411480"/>
          </a:xfrm>
          <a:prstGeom prst="ellipse">
            <a:avLst/>
          </a:prstGeom>
          <a:solidFill>
            <a:srgbClr val="3D8B6E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235000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280160" y="22402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on_permission_request 必填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280160" y="25603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每次建立 session 都必須提供權限處理器，否則無法建立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754880" y="2148840"/>
            <a:ext cx="3840480" cy="822960"/>
          </a:xfrm>
          <a:prstGeom prst="rect">
            <a:avLst/>
          </a:prstGeom>
          <a:solidFill>
            <a:srgbClr val="F0F4F8"/>
          </a:solidFill>
          <a:ln/>
        </p:spPr>
      </p:sp>
      <p:sp>
        <p:nvSpPr>
          <p:cNvPr id="22" name="Shape 20"/>
          <p:cNvSpPr/>
          <p:nvPr/>
        </p:nvSpPr>
        <p:spPr>
          <a:xfrm>
            <a:off x="4754880" y="2148840"/>
            <a:ext cx="54864" cy="822960"/>
          </a:xfrm>
          <a:prstGeom prst="rect">
            <a:avLst/>
          </a:prstGeom>
          <a:solidFill>
            <a:srgbClr val="408EC6"/>
          </a:solidFill>
          <a:ln/>
        </p:spPr>
      </p:sp>
      <p:sp>
        <p:nvSpPr>
          <p:cNvPr id="23" name="Shape 21"/>
          <p:cNvSpPr/>
          <p:nvPr/>
        </p:nvSpPr>
        <p:spPr>
          <a:xfrm>
            <a:off x="4937760" y="2350008"/>
            <a:ext cx="411480" cy="411480"/>
          </a:xfrm>
          <a:prstGeom prst="ellipse">
            <a:avLst/>
          </a:prstGeom>
          <a:solidFill>
            <a:srgbClr val="408EC6"/>
          </a:solidFill>
          <a:ln/>
        </p:spPr>
      </p:sp>
      <p:sp>
        <p:nvSpPr>
          <p:cNvPr id="24" name="Text 22"/>
          <p:cNvSpPr/>
          <p:nvPr/>
        </p:nvSpPr>
        <p:spPr>
          <a:xfrm>
            <a:off x="4937760" y="235000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486400" y="22402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PermissionHandler.approve_all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486400" y="25603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最簡單的權限處理器，允許所有操作，適合快速原型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48640" y="3246120"/>
            <a:ext cx="3840480" cy="822960"/>
          </a:xfrm>
          <a:prstGeom prst="rect">
            <a:avLst/>
          </a:prstGeom>
          <a:solidFill>
            <a:srgbClr val="F0F4F8"/>
          </a:solidFill>
          <a:ln/>
        </p:spPr>
      </p:sp>
      <p:sp>
        <p:nvSpPr>
          <p:cNvPr id="28" name="Shape 26"/>
          <p:cNvSpPr/>
          <p:nvPr/>
        </p:nvSpPr>
        <p:spPr>
          <a:xfrm>
            <a:off x="548640" y="3246120"/>
            <a:ext cx="54864" cy="822960"/>
          </a:xfrm>
          <a:prstGeom prst="rect">
            <a:avLst/>
          </a:prstGeom>
          <a:solidFill>
            <a:srgbClr val="7A2048"/>
          </a:solidFill>
          <a:ln/>
        </p:spPr>
      </p:sp>
      <p:sp>
        <p:nvSpPr>
          <p:cNvPr id="29" name="Shape 27"/>
          <p:cNvSpPr/>
          <p:nvPr/>
        </p:nvSpPr>
        <p:spPr>
          <a:xfrm>
            <a:off x="731520" y="3447288"/>
            <a:ext cx="411480" cy="411480"/>
          </a:xfrm>
          <a:prstGeom prst="ellipse">
            <a:avLst/>
          </a:prstGeom>
          <a:solidFill>
            <a:srgbClr val="7A2048"/>
          </a:solidFill>
          <a:ln/>
        </p:spPr>
      </p:sp>
      <p:sp>
        <p:nvSpPr>
          <p:cNvPr id="30" name="Text 28"/>
          <p:cNvSpPr/>
          <p:nvPr/>
        </p:nvSpPr>
        <p:spPr>
          <a:xfrm>
            <a:off x="731520" y="344728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1280160" y="333756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 with 自動管理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1280160" y="36576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使用 context manager 自動處理 disconnect，避免資源洩漏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4754880" y="3246120"/>
            <a:ext cx="3840480" cy="822960"/>
          </a:xfrm>
          <a:prstGeom prst="rect">
            <a:avLst/>
          </a:prstGeom>
          <a:solidFill>
            <a:srgbClr val="F0F4F8"/>
          </a:solidFill>
          <a:ln/>
        </p:spPr>
      </p:sp>
      <p:sp>
        <p:nvSpPr>
          <p:cNvPr id="34" name="Shape 32"/>
          <p:cNvSpPr/>
          <p:nvPr/>
        </p:nvSpPr>
        <p:spPr>
          <a:xfrm>
            <a:off x="4754880" y="3246120"/>
            <a:ext cx="54864" cy="822960"/>
          </a:xfrm>
          <a:prstGeom prst="rect">
            <a:avLst/>
          </a:prstGeom>
          <a:solidFill>
            <a:srgbClr val="3D8B6E"/>
          </a:solidFill>
          <a:ln/>
        </p:spPr>
      </p:sp>
      <p:sp>
        <p:nvSpPr>
          <p:cNvPr id="35" name="Shape 33"/>
          <p:cNvSpPr/>
          <p:nvPr/>
        </p:nvSpPr>
        <p:spPr>
          <a:xfrm>
            <a:off x="4937760" y="3447288"/>
            <a:ext cx="411480" cy="411480"/>
          </a:xfrm>
          <a:prstGeom prst="ellipse">
            <a:avLst/>
          </a:prstGeom>
          <a:solidFill>
            <a:srgbClr val="3D8B6E"/>
          </a:solidFill>
          <a:ln/>
        </p:spPr>
      </p:sp>
      <p:sp>
        <p:nvSpPr>
          <p:cNvPr id="36" name="Text 34"/>
          <p:cNvSpPr/>
          <p:nvPr/>
        </p:nvSpPr>
        <p:spPr>
          <a:xfrm>
            <a:off x="4937760" y="344728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486400" y="333756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路徑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5486400" y="36576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一律 from copilot import ...，不是 copilot_sdk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4572000" y="470916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 — 第 01 課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Client 生命週期流程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188720"/>
            <a:ext cx="2286000" cy="914400"/>
          </a:xfrm>
          <a:prstGeom prst="rect">
            <a:avLst/>
          </a:prstGeom>
          <a:solidFill>
            <a:srgbClr val="1E2761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126187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AB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CopilotClient()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7830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CD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建立客戶端實例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926080" y="141732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08E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246120" y="1188720"/>
            <a:ext cx="2286000" cy="914400"/>
          </a:xfrm>
          <a:prstGeom prst="rect">
            <a:avLst/>
          </a:prstGeom>
          <a:solidFill>
            <a:srgbClr val="1E2761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246120" y="126187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AB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246120" y="14630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client.start()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246120" y="17830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CD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啟動 CLI 子程序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532120" y="141732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08E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852160" y="1188720"/>
            <a:ext cx="2286000" cy="914400"/>
          </a:xfrm>
          <a:prstGeom prst="rect">
            <a:avLst/>
          </a:prstGeom>
          <a:solidFill>
            <a:srgbClr val="1E2761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852160" y="126187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AB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852160" y="14630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create_session()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852160" y="17830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CD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建立對話 session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766560" y="214884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408E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5852160" y="2743200"/>
            <a:ext cx="2286000" cy="914400"/>
          </a:xfrm>
          <a:prstGeom prst="rect">
            <a:avLst/>
          </a:prstGeom>
          <a:solidFill>
            <a:srgbClr val="7A2048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852160" y="281635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AB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852160" y="30175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send_and_wait()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52160" y="33375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CD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送出訊息並等待回覆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532120" y="297180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08E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3246120" y="2743200"/>
            <a:ext cx="2286000" cy="914400"/>
          </a:xfrm>
          <a:prstGeom prst="rect">
            <a:avLst/>
          </a:prstGeom>
          <a:solidFill>
            <a:srgbClr val="1E2761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246120" y="281635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AB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246120" y="30175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disconnect()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3246120" y="33375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CD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中斷 session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2926080" y="297180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08E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640080" y="2743200"/>
            <a:ext cx="2286000" cy="914400"/>
          </a:xfrm>
          <a:prstGeom prst="rect">
            <a:avLst/>
          </a:prstGeom>
          <a:solidFill>
            <a:srgbClr val="1E2761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40080" y="281635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AB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40080" y="30175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client.stop()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40080" y="33375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CD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停止 CLI 子程序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371600" y="3931920"/>
            <a:ext cx="6400800" cy="457200"/>
          </a:xfrm>
          <a:prstGeom prst="rect">
            <a:avLst/>
          </a:prstGeom>
          <a:solidFill>
            <a:srgbClr val="F0F4F8"/>
          </a:solidFill>
          <a:ln/>
        </p:spPr>
      </p:sp>
      <p:sp>
        <p:nvSpPr>
          <p:cNvPr id="33" name="Text 31"/>
          <p:cNvSpPr/>
          <p:nvPr/>
        </p:nvSpPr>
        <p:spPr>
          <a:xfrm>
            <a:off x="1371600" y="39319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A2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 with 會自動處理步驟 5（disconnect），避免資源洩漏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4572000" y="470916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 — 第 01 課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程式碼重點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建立客戶端並啟動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3931920" cy="1051560"/>
          </a:xfrm>
          <a:prstGeom prst="rect">
            <a:avLst/>
          </a:prstGeom>
          <a:solidFill>
            <a:srgbClr val="1E1E1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85800" y="137160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copilot import CopilotClient, PermissionHandler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client = CopilotClient()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 client.start()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54880" y="960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建立 Session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754880" y="1280160"/>
            <a:ext cx="3931920" cy="1051560"/>
          </a:xfrm>
          <a:prstGeom prst="rect">
            <a:avLst/>
          </a:prstGeom>
          <a:solidFill>
            <a:srgbClr val="1E1E1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892040" y="137160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 with await client.create_session(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model="claude-sonnet-4.6",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on_permission_request=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PermissionHandler.approve_all,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as session: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48640" y="26517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送出訊息並取得回覆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2971800"/>
            <a:ext cx="3931920" cy="1051560"/>
          </a:xfrm>
          <a:prstGeom prst="rect">
            <a:avLst/>
          </a:prstGeom>
          <a:solidFill>
            <a:srgbClr val="1E1E1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85800" y="306324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response = await session.send_and_wait(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"What is 2+2?"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response: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print(response.data.content)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754880" y="26517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完整進入點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754880" y="2971800"/>
            <a:ext cx="3931920" cy="1051560"/>
          </a:xfrm>
          <a:prstGeom prst="rect">
            <a:avLst/>
          </a:prstGeom>
          <a:solidFill>
            <a:srgbClr val="1E1E1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892040" y="306324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__name__ == "__main__":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asyncio.run(main())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0" y="470916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 — 第 01 課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注意事項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005840"/>
            <a:ext cx="8046720" cy="731520"/>
          </a:xfrm>
          <a:prstGeom prst="rect">
            <a:avLst/>
          </a:prstGeom>
          <a:solidFill>
            <a:srgbClr val="F0F4F8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005840"/>
            <a:ext cx="54864" cy="731520"/>
          </a:xfrm>
          <a:prstGeom prst="rect">
            <a:avLst/>
          </a:prstGeom>
          <a:solidFill>
            <a:srgbClr val="7A2048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1161288"/>
            <a:ext cx="457200" cy="457200"/>
          </a:xfrm>
          <a:prstGeom prst="ellipse">
            <a:avLst/>
          </a:prstGeom>
          <a:solidFill>
            <a:srgbClr val="7A2048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1612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554480" y="1005840"/>
            <a:ext cx="6858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on_permission_request 是必填參數，遺漏會導致 session 建立失敗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8046720" cy="731520"/>
          </a:xfrm>
          <a:prstGeom prst="rect">
            <a:avLst/>
          </a:prstGeom>
          <a:solidFill>
            <a:srgbClr val="F0F4F8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1965960"/>
            <a:ext cx="54864" cy="731520"/>
          </a:xfrm>
          <a:prstGeom prst="rect">
            <a:avLst/>
          </a:prstGeom>
          <a:solidFill>
            <a:srgbClr val="3D8B6E"/>
          </a:solidFill>
          <a:ln/>
        </p:spPr>
      </p:sp>
      <p:sp>
        <p:nvSpPr>
          <p:cNvPr id="10" name="Shape 8"/>
          <p:cNvSpPr/>
          <p:nvPr/>
        </p:nvSpPr>
        <p:spPr>
          <a:xfrm>
            <a:off x="868680" y="2121408"/>
            <a:ext cx="457200" cy="457200"/>
          </a:xfrm>
          <a:prstGeom prst="ellipse">
            <a:avLst/>
          </a:prstGeom>
          <a:solidFill>
            <a:srgbClr val="3D8B6E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21214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554480" y="1965960"/>
            <a:ext cx="6858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路徑是 from copilot import ...，不是 from copilot_sdk import ...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2926080"/>
            <a:ext cx="8046720" cy="731520"/>
          </a:xfrm>
          <a:prstGeom prst="rect">
            <a:avLst/>
          </a:prstGeom>
          <a:solidFill>
            <a:srgbClr val="F0F4F8"/>
          </a:solidFill>
          <a:ln/>
        </p:spPr>
      </p:sp>
      <p:sp>
        <p:nvSpPr>
          <p:cNvPr id="14" name="Shape 12"/>
          <p:cNvSpPr/>
          <p:nvPr/>
        </p:nvSpPr>
        <p:spPr>
          <a:xfrm>
            <a:off x="548640" y="2926080"/>
            <a:ext cx="54864" cy="731520"/>
          </a:xfrm>
          <a:prstGeom prst="rect">
            <a:avLst/>
          </a:prstGeom>
          <a:solidFill>
            <a:srgbClr val="408EC6"/>
          </a:solidFill>
          <a:ln/>
        </p:spPr>
      </p:sp>
      <p:sp>
        <p:nvSpPr>
          <p:cNvPr id="15" name="Shape 13"/>
          <p:cNvSpPr/>
          <p:nvPr/>
        </p:nvSpPr>
        <p:spPr>
          <a:xfrm>
            <a:off x="868680" y="3081528"/>
            <a:ext cx="457200" cy="457200"/>
          </a:xfrm>
          <a:prstGeom prst="ellipse">
            <a:avLst/>
          </a:prstGeom>
          <a:solidFill>
            <a:srgbClr val="408EC6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3081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554480" y="2926080"/>
            <a:ext cx="6858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使用 async with 可自動處理 disconnect()，避免手動遺漏造成資源洩漏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48640" y="3886200"/>
            <a:ext cx="8046720" cy="731520"/>
          </a:xfrm>
          <a:prstGeom prst="rect">
            <a:avLst/>
          </a:prstGeom>
          <a:solidFill>
            <a:srgbClr val="F0F4F8"/>
          </a:solidFill>
          <a:ln/>
        </p:spPr>
      </p:sp>
      <p:sp>
        <p:nvSpPr>
          <p:cNvPr id="19" name="Shape 17"/>
          <p:cNvSpPr/>
          <p:nvPr/>
        </p:nvSpPr>
        <p:spPr>
          <a:xfrm>
            <a:off x="548640" y="3886200"/>
            <a:ext cx="54864" cy="7315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0" name="Shape 18"/>
          <p:cNvSpPr/>
          <p:nvPr/>
        </p:nvSpPr>
        <p:spPr>
          <a:xfrm>
            <a:off x="868680" y="4041648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1" name="Text 19"/>
          <p:cNvSpPr/>
          <p:nvPr/>
        </p:nvSpPr>
        <p:spPr>
          <a:xfrm>
            <a:off x="868680" y="40416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554480" y="3886200"/>
            <a:ext cx="6858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執行前須確認 copilot CLI 已安裝並已安裝 SDK（pip install github-copilot-sdk）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572000" y="470916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 — 第 01 課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-914400"/>
            <a:ext cx="3200400" cy="3200400"/>
          </a:xfrm>
          <a:prstGeom prst="ellipse">
            <a:avLst/>
          </a:prstGeom>
          <a:solidFill>
            <a:srgbClr val="408EC6">
              <a:alpha val="2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097280" y="3474720"/>
            <a:ext cx="2743200" cy="2743200"/>
          </a:xfrm>
          <a:prstGeom prst="ellipse">
            <a:avLst/>
          </a:prstGeom>
          <a:solidFill>
            <a:srgbClr val="7A2048">
              <a:alpha val="1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91440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總結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173736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透過 6 步生命週期（建立 → 啟動 → 建 session → 送訊息 → 斷線 → 停止），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完成 Copilot SDK 最小可運行的阻塞式對話範例。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3200400"/>
            <a:ext cx="2468880" cy="594360"/>
          </a:xfrm>
          <a:prstGeom prst="rect">
            <a:avLst/>
          </a:prstGeom>
          <a:solidFill>
            <a:srgbClr val="408EC6">
              <a:alpha val="30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320040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CopilotClient 是一切的起點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474720" y="3200400"/>
            <a:ext cx="2468880" cy="594360"/>
          </a:xfrm>
          <a:prstGeom prst="rect">
            <a:avLst/>
          </a:prstGeom>
          <a:solidFill>
            <a:srgbClr val="408EC6">
              <a:alpha val="30000"/>
            </a:srgbClr>
          </a:solidFill>
          <a:ln/>
        </p:spPr>
      </p:sp>
      <p:sp>
        <p:nvSpPr>
          <p:cNvPr id="9" name="Text 7"/>
          <p:cNvSpPr/>
          <p:nvPr/>
        </p:nvSpPr>
        <p:spPr>
          <a:xfrm>
            <a:off x="3474720" y="320040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send_and_wait 是最簡單的互動方式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3200400"/>
            <a:ext cx="2468880" cy="594360"/>
          </a:xfrm>
          <a:prstGeom prst="rect">
            <a:avLst/>
          </a:prstGeom>
          <a:solidFill>
            <a:srgbClr val="408EC6">
              <a:alpha val="30000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320040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 with 自動管理資源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0" y="470916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B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 — 第 01 課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 01 課 — Hello World</dc:title>
  <dc:subject>PptxGenJS Presentation</dc:subject>
  <dc:creator>Claude</dc:creator>
  <cp:lastModifiedBy>Claude</cp:lastModifiedBy>
  <cp:revision>1</cp:revision>
  <dcterms:created xsi:type="dcterms:W3CDTF">2026-04-01T13:32:46Z</dcterms:created>
  <dcterms:modified xsi:type="dcterms:W3CDTF">2026-04-01T13:32:46Z</dcterms:modified>
</cp:coreProperties>
</file>