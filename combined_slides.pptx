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notesMasterIdLst>
    <p:notesMasterId r:id="rId15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543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5430" cy="731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5430" cy="7315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543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5430" cy="7315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5430" cy="73152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5430" cy="731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731520"/>
            <a:ext cx="384048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8229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copilot_sdk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CopilotClient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</a:t>
            </a:r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CopilotClient()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 =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client.create_session()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session.send_and_wait(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3716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 SDK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教學系列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堂課 · 7 大單元 · 從基礎到實戰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10515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840480"/>
            <a:ext cx="10515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13632"/>
            <a:ext cx="1051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核心基礎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3840480"/>
            <a:ext cx="10515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1874520" y="3840480"/>
            <a:ext cx="10515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1874520" y="3913632"/>
            <a:ext cx="1051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工具與擴充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17520" y="3840480"/>
            <a:ext cx="10515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3017520" y="3840480"/>
            <a:ext cx="105156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3913632"/>
            <a:ext cx="1051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進階設定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0520" y="3840480"/>
            <a:ext cx="10515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4160520" y="3840480"/>
            <a:ext cx="10515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4160520" y="3913632"/>
            <a:ext cx="1051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框架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3840480"/>
            <a:ext cx="10515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3840480"/>
            <a:ext cx="105156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3913632"/>
            <a:ext cx="1051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可觀測性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46520" y="3840480"/>
            <a:ext cx="10515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3840480"/>
            <a:ext cx="105156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913632"/>
            <a:ext cx="1051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安全與上下文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89520" y="3840480"/>
            <a:ext cx="10515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Shape 31"/>
          <p:cNvSpPr/>
          <p:nvPr/>
        </p:nvSpPr>
        <p:spPr>
          <a:xfrm>
            <a:off x="7589520" y="3840480"/>
            <a:ext cx="10515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3913632"/>
            <a:ext cx="1051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記憶系統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課程總覽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120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5120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60120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96012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核心基礎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96012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第01課 Hello World  ·  第02課 事件驅動訊息  ·  第03課 即時串流輸出  ·  第04課 自訂權限處理器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27048"/>
            <a:ext cx="8229600" cy="51206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27048"/>
            <a:ext cx="73152" cy="5120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527048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52704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工具與擴充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527048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第05課 自訂工具  ·  第06課 Session Hook  ·  第07課 MCP 伺服器整合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93976"/>
            <a:ext cx="8229600" cy="5120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093976"/>
            <a:ext cx="73152" cy="5120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093976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209397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進階設定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2093976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第08課 BYOK  ·  第09課 Session 持久化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8229600" cy="51206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660904"/>
            <a:ext cx="73152" cy="5120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60904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266090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框架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2660904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第10課 自訂 Agent 角色  ·  第11課 Agent 工具範圍控制  ·  第12課 Agent 專屬 MCP  ·  第13課 Sub-Agent 事件監控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27832"/>
            <a:ext cx="8229600" cy="5120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227832"/>
            <a:ext cx="73152" cy="5120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27832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322783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可觀測性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22783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第14課 OpenLIT 可觀測性  ·  第15課 Langfuse 可觀測性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51206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794760"/>
            <a:ext cx="73152" cy="51206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794760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54480" y="379476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安全與上下文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379476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第16課 上下文管理  ·  第17課 安全設定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361688"/>
            <a:ext cx="8229600" cy="5120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361688"/>
            <a:ext cx="73152" cy="5120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361688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554480" y="436168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記憶系統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74720" y="4361688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第18課 Agent 記憶  ·  第19課 結構化記憶壓縮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280160" cy="457200"/>
          </a:xfrm>
          <a:prstGeom prst="rect">
            <a:avLst>
              <a:gd name="adj" fmla="val 10000"/>
            </a:avLst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核心基礎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78308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17830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01 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3108960"/>
            <a:ext cx="178308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3108960"/>
            <a:ext cx="17830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200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02 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事件驅動訊息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108960"/>
            <a:ext cx="178308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3108960"/>
            <a:ext cx="17830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200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03 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即時串流輸出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3108960"/>
            <a:ext cx="178308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108960"/>
            <a:ext cx="17830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200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04 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自訂權限處理器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>
              <a:gd name="adj" fmla="val 11111"/>
            </a:avLst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Hello World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最小可運行範例 — Client 生命週期與 send_and_wait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47472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CopilotClient()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session.send_and_wait("...")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從 CLI 到程式化控制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82880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828800"/>
            <a:ext cx="18288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 Python 程式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828800"/>
            <a:ext cx="182880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1828800"/>
            <a:ext cx="18288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Client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182880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828800"/>
            <a:ext cx="18288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1828800"/>
            <a:ext cx="182880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1828800"/>
            <a:ext cx="18288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40280" y="182880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0" y="182880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182880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讓你用 Python 程式碼控制 GitHub Copilot，不再只能手動操作 CLI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23774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22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自動化流程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用程式控制 AI 對話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794760"/>
            <a:ext cx="23774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822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可組合性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1188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與現有系統整合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794760"/>
            <a:ext cx="23774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822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即時回應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串流、事件、回呼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六步完整生命週期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建立客戶端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73352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client.start()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6276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CLI 子程序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203704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037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579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1579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建立對話 Session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734056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6883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6883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送出訊息，等待回覆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26440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64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session.disconnect()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3218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中斷 Session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client.stop()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停止 CLI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2249424"/>
            <a:ext cx="0" cy="1335024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2249424"/>
            <a:ext cx="13716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3584448"/>
            <a:ext cx="13716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505456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自動管理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使用 async with 可自動處理 disconnect()，不需手動呼叫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開始之前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確認 CLI 已安裝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3108960" cy="7315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必須先安裝在系統上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371600"/>
            <a:ext cx="36576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安裝 Python SDK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108960" cy="7315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github-copilot-sdk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Python 3.10+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931920"/>
            <a:ext cx="54864" cy="7315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319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⊳ 執行範例：  </a:t>
            </a:r>
            <a:pPr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完整範例 — main.py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1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1560" y="1005840"/>
            <a:ext cx="0" cy="3566160"/>
          </a:xfrm>
          <a:prstGeom prst="line">
            <a:avLst/>
          </a:prstGeom>
          <a:noFill/>
          <a:ln w="6350">
            <a:solidFill>
              <a:srgbClr val="484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005840"/>
            <a:ext cx="7315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CopilotClient, PermissionHandler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建立客戶端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client.start()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建立 session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"claude-sonnet-4.6"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on_permission_request=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PermissionHandler.approve_all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3. 送出訊息並等待回覆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2+2? Reply in one sentence."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(f"AI 回覆: {response.data.content}")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4. 停止客戶端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client.stop()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逐段解析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1430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188720"/>
            <a:ext cx="3749040" cy="9601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1887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CopilotClient()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client.start()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2064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建立與啟動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0" y="1490472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SDK 客戶端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Copilot CLI 子程序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50008"/>
            <a:ext cx="7680960" cy="1508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50008"/>
            <a:ext cx="54864" cy="1508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441448"/>
            <a:ext cx="3749040" cy="13258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441448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await client.create_session(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on_permission_request=...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session: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session.send_and_wait(...)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0" y="2423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對話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2743200"/>
            <a:ext cx="31089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create_session 建立對話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 阻塞等待回覆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 確保自動 disconnect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68496"/>
            <a:ext cx="768096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968496"/>
            <a:ext cx="54864" cy="10972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4059936"/>
            <a:ext cx="374904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059936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client.stop()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40416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4361688"/>
            <a:ext cx="310896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釋放所有資源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停止 CLI 子程序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四個必記重點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6576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365760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on_permission_request 是必填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session 都必須提供權限處理器，沒有預設值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6576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09160" y="1234440"/>
            <a:ext cx="36576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PermissionHandler.approve_all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最簡單的選擇：允許所有操作，適合開發測試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6576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017520"/>
            <a:ext cx="36576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async with 自動管理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611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自動呼叫 disconnect()，即使發生例外也能正確清理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6576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3017520"/>
            <a:ext cx="36576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Import 路徑是 copilot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611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copilot import ...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 copilot_sdk，別寫錯！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CopilotClient 是一切的起點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send_and_wait() 是最簡單的互動方式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 自動管理 session 生命週期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on_permission_request 是必填參數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只要 30 行程式碼，就能控制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02 課：事件驅動訊息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從阻塞式 send_and_wait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進化到非同步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send() + on()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883E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「只要 30 行程式碼，就能讓 AI 為你工作」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事件驅動訊息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+ session.on() — 非阻塞式 AI 對話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47472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session.send(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session.on(on_event)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程式繼續跑，不等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send_and_wait 的限制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程式送出問題後完全凍住，直到 AI 回完才能做下一件事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68096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send_and_wait — 程式凍住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session.send_and_wait("...")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AI 回完之前，以下程式碼完全不會執行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768096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29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send — 送出後立刻返回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session.send("...")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立刻執行到這裡，AI 回覆會透過事件通知你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兩種模式的差異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 — 你是瞇子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你的程式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send_and_wait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1828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(凍住)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讀檔案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(凍住)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9748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呼叫工具 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(凍住)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9748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 B 出錯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最終回覆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幾分鐘後才看到結果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+ 事件 — 掌控全程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你的程式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1828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tool.executing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讀檔案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tool.executing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9516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呼叫工具 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tool.executing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9516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 B 出錯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message_delta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9516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組合結果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session.idle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即時看到每一步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功能對照表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80360" y="1234440"/>
            <a:ext cx="274320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288036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send_and_wait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234440"/>
            <a:ext cx="274320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+ 事件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737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看到工具呼叫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80360" y="1737360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只拿到最終結果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737360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即時通知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276856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27685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中途介入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80360" y="2276856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2768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程式凍住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2276856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22768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steering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28163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逐字輸出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80360" y="2816352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2816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2816352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2816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message_delta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3355848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3558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錯誤即時處理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80360" y="3355848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33558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等到最後才知道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0" y="3355848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33558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馬上收到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895344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38953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進度回報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80360" y="3895344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38953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只能顯示「請等待」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0" y="3895344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38953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即時顯示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1520" y="46177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4617720"/>
            <a:ext cx="54864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46177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 適合一問一答的簡單腳本。Agent 開發一律用 send + 事件。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事件處理模式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8229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註冊事件處理器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 = session.on(callback)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4572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194560"/>
            <a:ext cx="54864" cy="822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事件發生時自動呼叫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event.type.value == "assistant.message":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4572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200400"/>
            <a:ext cx="54864" cy="8229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用完後取消訂閱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常用事件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0" y="1645920"/>
            <a:ext cx="30175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1645920"/>
            <a:ext cx="45720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assistant.message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19019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回覆完成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286000"/>
            <a:ext cx="30175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2286000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2286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session.idle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2542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所有處理完成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2926080"/>
            <a:ext cx="30175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2926080"/>
            <a:ext cx="45720" cy="5029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29260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assistant.message_delta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3182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逐字輸出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566160"/>
            <a:ext cx="30175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0" y="3566160"/>
            <a:ext cx="45720" cy="5029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3566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tool.executing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38221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工具執行中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155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程式碼實戰 — 事件回呼與背景工作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= asyncio.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event_type = event.type.value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"assistant.message"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answer = event.data.content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"session.idle"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done.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 = session.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(on_event)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非阻塞送出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("Name 3 Python web frameworks...")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程式沒凍住，同時做背景工作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done.is_set():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print("⚙️  背景工作...")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asyncio.sleep(0.5)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1280160"/>
            <a:ext cx="0" cy="73152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事件處理器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3017520"/>
            <a:ext cx="0" cy="36576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非阻塞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0" y="3749040"/>
            <a:ext cx="0" cy="45720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背景工作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155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執行結果示意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261872"/>
            <a:ext cx="137160" cy="13716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261872"/>
            <a:ext cx="137160" cy="1371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261872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7315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送出問題（send 立刻返回，不等回覆）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⚙️  背景工作 #1（AI 還在想...）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⚙️  背景工作 #2（AI 還在想...）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⚙️  背景工作 #3（AI 還在想...）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AI 回覆: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Flask, Django, and FastAPI are three popular...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等 AI 的期間，程式同時完成了 3 次背景工作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過程中收到的事件: ['assistant.message', 'session.idle']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920240"/>
            <a:ext cx="32004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920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證明程式沒有凍住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155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非阻塞送出，程式繼續跑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session.on() 註冊事件回呼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unsubscribe() 用完後取消訂閱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開發一律用事件驅動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03 課：即時串流輸出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從事件驅動進化到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 token 即時顯示的體驗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883E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「程式不該凍住等 AI — 讓事件告訴你結果」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155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即時串流輸出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True — 逐 token 即時顯示 AI 回覆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7033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155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為什麼需要串流？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無串流 — 等完才看到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3200400" cy="32004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等待中...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3200400" cy="32004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等待中...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320040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完整回覆一次到位！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3秒 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有串流 — 逐字出現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1828800"/>
            <a:ext cx="914400" cy="274320"/>
          </a:xfrm>
          <a:prstGeom prst="rect">
            <a:avLst/>
          </a:prstGeom>
          <a:solidFill>
            <a:srgbClr val="3FB950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828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robot...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0640" y="2212848"/>
            <a:ext cx="1828800" cy="274320"/>
          </a:xfrm>
          <a:prstGeom prst="rect">
            <a:avLst/>
          </a:prstGeom>
          <a:solidFill>
            <a:srgbClr val="3FB950">
              <a:alpha val="4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212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robot picked up a...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20640" y="2596896"/>
            <a:ext cx="2743200" cy="274320"/>
          </a:xfrm>
          <a:prstGeom prst="rect">
            <a:avLst/>
          </a:prstGeom>
          <a:solidFill>
            <a:srgbClr val="3FB950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5968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robot picked up a whisk and...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20640" y="2980944"/>
            <a:ext cx="3200400" cy="274320"/>
          </a:xfrm>
          <a:prstGeom prst="rect">
            <a:avLst/>
          </a:prstGeom>
          <a:solidFill>
            <a:srgbClr val="3FB950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980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完成！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2064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立刻開始看到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3840480"/>
            <a:ext cx="54864" cy="54864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8404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使用者體驗差異巨大：串流讓第一個字在 0.1 秒內出現，而不是等 3 秒才看到全部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155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如何啟用串流？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280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只需要一個參數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streaming=True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768096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</a:t>
            </a:r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"claude-sonnet-4.6"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streaming=</a:t>
            </a:r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      </a:t>
            </a:r>
            <a:pPr indent="0" marL="0">
              <a:buNone/>
            </a:pPr>
            <a:r>
              <a:rPr lang="en-US" sz="13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就這行！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PermissionHandler.approve_all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其他部分與第 02 課完全相同 — 一樣用 session.on() 處理事件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155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串流相關事件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9601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96012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assistant.message_delta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高頻率（每個 token）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536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每產生一小段文字就觸發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828800"/>
            <a:ext cx="34747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828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event.data.delta_content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7680960" cy="9601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331720"/>
            <a:ext cx="54864" cy="9601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assistant.reasoning_delta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部分模型支援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模型思考過程的增量片段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2971800"/>
            <a:ext cx="34747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971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event.data.delta_content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474720"/>
            <a:ext cx="54864" cy="9601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assistant.message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每次回覆結束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822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完整最終回覆（無論是否串流）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4114800"/>
            <a:ext cx="34747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114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event.data.content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delta_content 是增量片段，content 是完整回覆 — 兩者都會收到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155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事件處理器 — 核心程式碼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event_type = event.type.value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"assistant.message_delta"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逐 token 即時輸出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(event.data.delta_content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end="", flush=True)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"assistant.reasoning_delta"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思考過程（部分模型支援）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(f"[思考] {event.data.delta_content}"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end="", flush=True)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"assistant.message"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最終完整回覆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(event.data.content)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逐字顯示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0" y="256032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思考過程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365760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完整回覆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783080"/>
            <a:ext cx="20116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end=""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flush=True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155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串流體驗示意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70432"/>
            <a:ext cx="137160" cy="13716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170432"/>
            <a:ext cx="137160" cy="1371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170432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7132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串流輸出中...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robot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robot picked 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robot picked up a whisk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robot picked up a whisk and began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robot picked up a whisk and began to stir...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完整回覆 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robot picked up a whisk and began to stir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 with surprising precision...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0" y="1920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2148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2606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2834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155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streaming=True 啟用串流模式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message_delta 提供逐 token 增量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reasoning_delta 顯示思考過程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print(end="", flush=True) 即時顯示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使用者的第一個字 0.1 秒內出現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04 課：自訂權限處理器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approve_all 進化到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選擇性允許/拒絕操作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883E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「第一個字在 0.1 秒內出現 — 這就是串流的魔力」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155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自訂權限處理器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選擇性允許/拒絕 — 從 approve_all 進化到細粒度控管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47472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"read"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"shell"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"write"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155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為什麼不能一直用 approve_all？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PermissionHandler.approve_all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教學和測試用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可以執行任何 shell 指令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可以寫入/刪除任何檔案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可以存取任何 URL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零安全控制 = 零信任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自訂權限處理器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正式環境必用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→ 允許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 → 拒絕或審核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→ 拒絕或白名單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細粒度控制 = 安全第一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97680"/>
            <a:ext cx="54864" cy="3657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on_permission_request 是每個 session 的必填參數 — 沒有預設值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155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權限請求類型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request.kind.value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45720" cy="59436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44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"shell"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344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6184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shell 指令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45720" cy="59436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756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075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350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寫入檔案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788920"/>
            <a:ext cx="45720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072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807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081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讀取檔案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520440"/>
            <a:ext cx="45720" cy="5943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38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5387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813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MCP 工具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32588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1325880"/>
            <a:ext cx="45720" cy="5943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344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"custom-tool"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1344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16184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呼叫自訂工具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05740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2057400"/>
            <a:ext cx="45720" cy="5943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0756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"url"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2075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350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 URL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78892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2788920"/>
            <a:ext cx="45720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8072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"memory"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06640" y="2807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低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081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存取記憶體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352044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3520440"/>
            <a:ext cx="45720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538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"hook"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06640" y="35387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低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3813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hook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155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回傳值 — 三種決定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PermissionRequestResult(kind=...)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"approved"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允許執行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可以執行該操作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例：讀取檔案、安全的工具呼叫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68880"/>
            <a:ext cx="54864" cy="9144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"denied-interactively-by-user"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使用者明確拒絕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816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會嘗試其他方法或告知無法執行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0906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例：使用者不允許的檔案寫入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566160"/>
            <a:ext cx="54864" cy="91440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"denied-by-rules"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被規則拒絕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會知道這是系統限制，不會重試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187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例：安全政策禁止的 shell 指令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155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權限處理流程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146304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要執行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64592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645920"/>
            <a:ext cx="146304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7373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權限請求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64592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645920"/>
            <a:ext cx="146304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7373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1645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執行操作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286000"/>
            <a:ext cx="2286000" cy="7315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嘗試其他方法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B950"/>
                </a:solidFill>
              </a:rPr>
              <a:t>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7B72"/>
                </a:solidFill>
              </a:rPr>
              <a:t>↘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3291840"/>
            <a:ext cx="768096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實際情境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"我要建立 test.txt"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處理器: kind="write" → </a:t>
            </a:r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"抱歉，我無法建立檔案，權限不足。"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155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程式碼 — 自訂處理器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on_permission_request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(request, invocation):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kind = request.kind.value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kind=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"approved"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"shell"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kind=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"denied-interactively-by-user"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kind=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"denied-interactively-by-user"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其他類型預設允許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"approved"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146304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允許讀取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拒絕 shell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324612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拒絕寫入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預設允許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155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套用自訂處理器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"claude-sonnet-4.6"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</a:t>
            </a:r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on_permission_request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傳入你的函式，不是 approve_all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 Import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CopilotClient, PermissionRequest, PermissionRequestResult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155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on_permission_request 是必填參數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種權限請求類型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種回傳結果（approve / deny）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正式環境必須自訂處理器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05 課：自訂工具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@define_tool 讓 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呼叫你寫的 Python 函式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C8C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「信任但要驗證 — 讓每個 AI 操作都經過你的審核」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155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280160" cy="457200"/>
          </a:xfrm>
          <a:prstGeom prst="rect">
            <a:avLst>
              <a:gd name="adj" fmla="val 10000"/>
            </a:avLst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工具與擴充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42316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24231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05 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自訂工具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3108960"/>
            <a:ext cx="242316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3108960"/>
            <a:ext cx="24231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06 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Hook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3108960"/>
            <a:ext cx="242316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5852160" y="3108960"/>
            <a:ext cx="24231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07 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伺服器整合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155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自訂工具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@define_tool + Pydantic — 讓 AI 呼叫你寫的 Python 函式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@define_tool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(description="...")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"28°C, 多雲"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155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為什麼需要自訂工具？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無自訂工具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只能用內建工具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無法存取你的 API / 資料庫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無法執行特定業務邏輯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有自訂工具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可以呼叫你寫的函式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查天氣、查資料庫、呼叫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無限擴充 Agent 能力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運作流程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13716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使用者提問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566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356616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判斷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需要工具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3566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566160"/>
            <a:ext cx="1371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呼叫你的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自訂函式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3566160"/>
            <a:ext cx="13716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函式回傳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56616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2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3566160"/>
            <a:ext cx="137160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組合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最終回覆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155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定義工具四步驟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定義參數結構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463040"/>
            <a:ext cx="7040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463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WeatherParams(BaseModel):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str = Field(description="...")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裝飾器 + async 函式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2331720"/>
            <a:ext cx="7040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3317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@define_tool(description="...")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get_weather(params):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函式回傳 str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3200400"/>
            <a:ext cx="7040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2004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"28°C, 多雲"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傳入 create_session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71600" y="4069080"/>
            <a:ext cx="7040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0690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tools=[get_weather, calculator]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模型必須定義在模組層級（不能在函式內）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155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— Pydantic 參數模型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011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天氣查詢工具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WeatherParams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</a:t>
            </a:r>
            <a:pPr indent="0" marL="0">
              <a:buNone/>
            </a:pPr>
            <a:r>
              <a:rPr lang="en-US" sz="12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Field(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 name"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2011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計算機工具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CalculatorParams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expression: </a:t>
            </a:r>
            <a:pPr indent="0" marL="0">
              <a:buNone/>
            </a:pPr>
            <a:r>
              <a:rPr lang="en-US" sz="12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Field(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"Math expression"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重點解析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基礎類別，自動驗證型別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Field(description=...)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看得到的參數說明，決定如何傳值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型別注解 str/int/float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知道該傳什麼型別的值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155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2-3 — 裝飾器 + 函式實作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6858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@define_tool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current weather for a city"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(params: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WeatherParams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weather_data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"Taipei": "28°C, 多雲",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"Tokyo":  "22°C, 晴天",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weather_data.get(params.city,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"查無資料"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@define_tool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"Evaluate a math expression"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(params: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CalculatorParams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安全過濾字元後計算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(params.expression)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100584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AI 看到的說明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141732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必須 async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回傳 str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155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 — 傳入 Session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"claude-sonnet-4.6"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</a:t>
            </a:r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[get_weather, calculator]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</a:t>
            </a:r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PermissionHandler.approve_all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傳入你定義的工具列表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 Import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041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BaseModel, Field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CopilotClient, PermissionHandler, define_tool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155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工具選項與注意事項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工具選項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45720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skip_permission=True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0136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執行時不觸發權限提示，適合安全的工具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40280"/>
            <a:ext cx="45720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overrides_built_in_tool=True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53288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覆蓋內建工具，換成你的實作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模型必須定義在模組層級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不能放在 async def 內部，否則 SDK 無法識別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931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函式必須是 async，回傳必須是 str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160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即使是數字結果也要轉成 str(result)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決定 AI 何時呼叫工具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663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寫清楚功能說明，AI 才會在正確時機使用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155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BaseModel 定義參數結構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@define_tool 裝飾 async 函式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tools=[...] 傳入 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自動判斷何時呼叫工具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06 課：Session Hook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AI 行為前後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插入你的自訂邏輯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「讓 AI 呼叫你寫的 Python 函式 — 無限擴充 Agent 能力」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155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Hook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攞截與修改 AI 行為 — 在關鍵時刻插入自訂邏輯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"on_pre_tool_use"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guard,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"on_session_start"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init,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155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 Hook？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記錄日誌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每次工具執行前後自動 log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修改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注入上下文、改寫使用者輸入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188720"/>
            <a:ext cx="25603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安全攞截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工具執行前檢查，拒絕危險操作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0604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錯誤處理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自動重試、跳過或終止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60604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2606040"/>
            <a:ext cx="25603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統計分析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結束時產生摘要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60604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2606040"/>
            <a:ext cx="256032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動態設定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啟動時注入全域上下文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讓你在不修改 AI 邏輯的情況下，插入自訂行為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155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六種 Hook 總覽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" cy="4754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on_session_start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0972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啟動時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109728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64208"/>
            <a:ext cx="45720" cy="4754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6642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on_user_prompt_submitted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16642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使用者送出訊息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6642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modifiedPrompt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231136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231136"/>
            <a:ext cx="45720" cy="47548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23113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22311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工具執行前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23113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/ deny / ask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798064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798064"/>
            <a:ext cx="45720" cy="475488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79806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on_post_tool_use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279806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工具執行後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79806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364992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364992"/>
            <a:ext cx="45720" cy="47548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36499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on_session_end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33649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結束時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3649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sessionSummary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931920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931920"/>
            <a:ext cx="45720" cy="47548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9319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on_error_occurred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0" y="39319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錯誤發生時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39319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 / skip / abort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914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名稱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0" y="914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觸發時機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9144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可控制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hook 都是 async 函式，接收 (input_data, invocation)，回傳 dict 或 None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155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 觸發順序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0"/>
            <a:ext cx="1371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_start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645920"/>
            <a:ext cx="13716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_submitted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645920"/>
            <a:ext cx="13716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pre_tool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2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645920"/>
            <a:ext cx="137160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1645920"/>
            <a:ext cx="137160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6459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28800" y="2606040"/>
            <a:ext cx="4937760" cy="36576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2514600"/>
            <a:ext cx="36576" cy="128016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4" name="Shape 22"/>
          <p:cNvSpPr/>
          <p:nvPr/>
        </p:nvSpPr>
        <p:spPr>
          <a:xfrm>
            <a:off x="6729984" y="2514600"/>
            <a:ext cx="36576" cy="128016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可重複多次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200400"/>
            <a:ext cx="274320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2004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on_error_occurred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可在任何階段觸發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三種情境範例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425196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251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純文字問答: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prompt → end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66160" y="425196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4251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工具使用: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prompt → pre → post → end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0" y="425196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4251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危險攞截: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prompt → pre(deny!) → end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155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重點：修改 Prompt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on_user_prompt_submitted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on_user_prompt_submitted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(input_data, invocation):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original = input_data["prompt"]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在 prompt 前面加上上下文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modified =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f"[Context: Python dev] {original}"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{"modifiedPrompt": modified}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欄位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105156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3703320"/>
            <a:ext cx="105156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3703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3703320"/>
            <a:ext cx="105156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3703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欄位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3703320"/>
            <a:ext cx="123444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703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modifiedPrompt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123444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703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additionalContext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3703320"/>
            <a:ext cx="123444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3703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suppressOutput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None 表示不做任何干預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155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重點：工具安全門衛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(input_data, invocation):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tool_name = input_data.get("toolName")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tool_input = input_data.get("toolInput", "")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攞截危險的 shell 指令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tool_name == "shell"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"rm "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tool_input: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"permissionDecision": </a:t>
            </a:r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"permissionDecisionReason": </a:t>
            </a:r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"Blocked"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三種決定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24688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931920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允許執行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931920"/>
            <a:ext cx="24688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3931920"/>
            <a:ext cx="45720" cy="5029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拒絕執行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24688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3931920"/>
            <a:ext cx="45720" cy="5029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"ask"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詢問使用者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155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註冊 Hook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ALL_HOOKS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"on_session_start"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on_session_start,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"on_user_prompt_submitted"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on_user_prompt_submitted,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"on_pre_tool_use"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on_pre_tool_use,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"on_post_tool_use"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on_post_tool_use,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"on_session_end"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on_session_end,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"on_error_occurred"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on_error_occurred,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hooks=</a:t>
            </a:r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ALL_HOOKS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將 hook dict 傳入 create_session 的 hooks 參數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155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錯誤處理 Hook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on_error_occurred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on_error_occurred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(input_data, invocation):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 = input_data.get("error")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recoverable = input_data.get("recoverable", False)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{"errorHandling": "skip"}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三種錯誤處理策略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383280"/>
            <a:ext cx="45720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"retry"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重試操作（可搭配 retryCount）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適合：網路逾時、暂時性錯誤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31920"/>
            <a:ext cx="45720" cy="4572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"skip"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跳過錯誤，繼續執行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適合：非關鍵操作失敗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480560"/>
            <a:ext cx="45720" cy="45720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480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"abort"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終止 Session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適合：不可恢復的嚴重錯誤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155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六種 Hook 涵蓋 Session 全生命週期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 Prompt、攞截工具、處理錯誤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dict 傳入 create_session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dict 控制行為，None 不干預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07 課：MCP 伺服器整合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MCP 協定讓 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存取外部服務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8A6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「Hook 讓你在不改 AI 的情況下，控制 AI 的行為」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155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伺服器整合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讓 AI 連接外部工具服務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mcp_servers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"filesystem"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"local"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"fetch"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{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"remote"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155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什麼是 MCP？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一個標準協定，讓 AI agent 連接外部工具服務器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架構概念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146304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 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37744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03120" y="23774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377440"/>
            <a:ext cx="146304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37744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1920" y="23774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2377440"/>
            <a:ext cx="1463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(工具服務器)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23774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377440"/>
            <a:ext cx="146304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外部服務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(API/DB/FS)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 MCP？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24688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977640"/>
            <a:ext cx="24688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標準化協定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 AI 可共用同一個工具服務器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977640"/>
            <a:ext cx="24688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0" y="3977640"/>
            <a:ext cx="24688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生態系豐富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上有大量現成 MCP Server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977640"/>
            <a:ext cx="24688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3977640"/>
            <a:ext cx="246888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本地或雲端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本地或 HTTP 遠端皆可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155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兩種 MCP 類型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"local" (stdio)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運作方式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啟動本地子程序，透過 stdin/stdout 通訊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本地工具，如檔案系統、Git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設定欄位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例：npx @modelcontextprotocol/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server-filesystem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"remote" (HTTP)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運作方式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HTTP/SSE 連接遠端服務器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雲端服務，如 API Gateway、SaaS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設定欄位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例：https://router.mcp.so/sse/fetch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155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 MCP — 檔案系統服務器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model="claude-sonnet-4.6",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on_permission_request=PermissionHandler.approve_all,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mcp_servers={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"filesystem"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"command":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"npx"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"args":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["-y", "@modelcontextprotocol/server-filesystem", work_dir]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"tools": </a:t>
            </a:r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["*"]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     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暴露所有工具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-y 自動安裝並執行 MCP server。工具名稱由 server 提供，AI 自動發現可用工具。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155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Remote MCP — 遠端服務器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mcp_servers={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"fetch"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</a:t>
            </a:r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"remote"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"url": 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"https://router.mcp.so/sse/fetch"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</a:t>
            </a:r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["*"]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Local 的差異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"remote"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133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4133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+ args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4133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+ headers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425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44256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需要 Node.js/npx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44256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僅需網路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155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設定參考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"mcp_servers"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"server_name"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"local" | "remote",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local 專用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"command"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"npx",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"args"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["..."],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remote 專用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"url"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"https://...",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"headers"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{...},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共用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["*"],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["*"] 暴露所有工具，或指定 ["read_file", "list_dir"] 限制工具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155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前置需求與注意事項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前置需求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github-copilot-sdk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508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48840"/>
            <a:ext cx="45720" cy="5029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48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2148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npx（local MCP 需要）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-y 旗標可自動安裝套件，省去手動安裝步驟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的工具名稱由 server 定義，AI 會自動發現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可同時連接多個 MCP server，各給不同名稱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["*"] 暴露所有工具，或指定特定工具名稱限制範圍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155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是 AI 工具服務器的標準協定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(stdio) vs remote (HTTP)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mcp_servers dict 傳入 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生態系有大量現成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08 課：自帶 API Key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換成 OpenAI / Azure /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的模型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883E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「MCP 讓 AI 的能力不再受限於內建工具」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155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280160" cy="457200"/>
          </a:xfrm>
          <a:prstGeom prst="rect">
            <a:avLst>
              <a:gd name="adj" fmla="val 10000"/>
            </a:avLst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進階設定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370332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3703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08 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3108960"/>
            <a:ext cx="370332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108960"/>
            <a:ext cx="3703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09 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持久化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155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BYOK：自帶 API Key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Key — OpenAI / Azure / Ollama / Anthropic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"api_key":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"OPENAI_API_KEY"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155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什麼是 BYOK？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400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 GitHub Copilot 訂閱，直接用自己的 API Key 連接任何模型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6459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6459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 API Key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(OpenAI/Azure/…)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21031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16459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103120"/>
            <a:ext cx="16459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148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SDK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(執行引擎)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21031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103120"/>
            <a:ext cx="16459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103120"/>
            <a:ext cx="16459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148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你選的模型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(GPT-4/Llama/…)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1031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0" y="2103120"/>
            <a:ext cx="16459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2103120"/>
            <a:ext cx="16459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148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361188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611880"/>
            <a:ext cx="18288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無需 Copilot 訂閱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361188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3611880"/>
            <a:ext cx="18288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自由選擇模型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611880"/>
            <a:ext cx="18288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支援本地 Ollama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361188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Shape 30"/>
          <p:cNvSpPr/>
          <p:nvPr/>
        </p:nvSpPr>
        <p:spPr>
          <a:xfrm>
            <a:off x="6766560" y="3611880"/>
            <a:ext cx="18288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全功能照用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僅作為 agent 執行引擎，模型由你的 API Key 決定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155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Provider 類型一覽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858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"openai"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 OpenAI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"azure"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2677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必須用 azure，不能用 openai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743200"/>
            <a:ext cx="54864" cy="685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"openai"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llama3.2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906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本地執行，不需 API Key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566160"/>
            <a:ext cx="54864" cy="6858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"anthropic"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claude-*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913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系列模型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必須用 type: "azure" — 用 "openai" 會失敗！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155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三種 Provider 設定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00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1600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"openai",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"base_url": "https://api.openai.com/v1",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"api_key": os.environ["OPENAI_API_KEY"],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600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14400"/>
            <a:ext cx="45720" cy="1600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</a:t>
            </a:r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"base_url": AZURE_ENDPOINT,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"api_key": AZURE_KEY,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"azure": {"api_version": "..."},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417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43200"/>
            <a:ext cx="45720" cy="14173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(本地)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"openai",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"base_url": "http://localhost:11434/v1",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不需要 api_key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1417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743200"/>
            <a:ext cx="45720" cy="14173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套用方式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"gpt-4"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provider=</a:t>
            </a:r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155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環境變數與安全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永遠不要寫死在程式碼中 — 一律從環境變數讀取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=sk-...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Azure OpenAI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AZURE_OPENAI_KEY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AZURE_OPENAI_ENDPOINT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=https://my-resource.openai.azure.com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Ollama（不需 Key）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serve &amp;&amp; ollama pull llama3.2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注意：Azure 端點只需 host，不含路徑。model 在使用自訂 provider 時是必填的。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/ 155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自動偵測模式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detect_provider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優先：OpenAI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os.environ.get("OPENAI_API_KEY"):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{...openai config...}, "gpt-4"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Azure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os.environ.get("AZURE_OPENAI_KEY"):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{...azure config...}, "gpt-4"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Fallback: Ollama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{...ollama config...}, "llama3.2"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provider, model = detect_provider()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client.create_session(model=model, provider=provider)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根據環境變數自動選擇 provider，一套程式支援多種模型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155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dict 傳入 create_session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Azure / Ollama / Anthropic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必須用 type: "azure"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從環境變數讀取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09 課：Session 持久化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斷線後恢復 Session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保留對話上下文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「一套 SDK，任你選擇模型 — 自由在你手中」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155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持久化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斷線後恢復 — 保留對話上下文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create_session(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session_id="my-id"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session.disconnect()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保留資料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resumed = resume_session("my-id")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/ 155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為什麼需要持久化？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長時間任務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任務執行到一半，使用者需要離開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稍後回來繼續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程式重啟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 crash 或重新部署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恢復先前的對話狀態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18872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保留上下文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記得之前說過的內容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不需要重新提供背景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持久化流程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6304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736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(保留資料)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484F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...稍後...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5216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2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(恢復)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繼續對話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155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 API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" cy="4754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create_session(session_id="...")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60720" y="10972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建立具名 Session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664208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64208"/>
            <a:ext cx="45720" cy="47548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6420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session.disconnect()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6642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中斷但保留磁碟資料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31136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231136"/>
            <a:ext cx="45720" cy="475488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23113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client.resume_session("my-id", ...)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23113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恢復 Session（需再次提供 on_permission_request）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798064"/>
            <a:ext cx="45720" cy="4754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79806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client.list_sessions()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79806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列出所有 Session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364992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364992"/>
            <a:ext cx="45720" cy="4754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36499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client.get_last_session_id()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3649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取得最近的 Session ID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931920"/>
            <a:ext cx="45720" cy="47548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93192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client.delete_session("my-id")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9319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永久刪除 Session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resume_session 的第二個參數必須包含 on_permission_request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/ 155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階段一：建立與中斷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=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"tutorial-persistence-demo"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建立具名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session_id=</a:t>
            </a:r>
            <a:pPr indent="0" marL="0">
              <a:buNone/>
            </a:pPr>
            <a:r>
              <a:rPr lang="en-US" sz="12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model="claude-sonnet-4.6",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on_permission_request=PermissionHandler.approve_all,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對話：讓 AI 記住資訊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session.send_and_wait("Remember: my name is Alice")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中斷（資料保留在磁碟）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</a:t>
            </a:r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840480"/>
            <a:ext cx="54864" cy="5486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disconnect() ≠ 刪除。資料保留在磁碟，可以稍後 resume。僅 delete_session() 才會永久刪除。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155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階段二：恢復與驗證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恢復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resumed =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</a:t>
            </a:r>
            <a:pPr indent="0" marL="0">
              <a:buNone/>
            </a:pPr>
            <a:r>
              <a:rPr lang="en-US" sz="12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resume_session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PermissionHandler.approve_all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驗證：AI 記得之前的內容！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resumed.send_and_wait("What is my name?")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 回覆：「Your name is Alice」 → 上下文已恢復！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清理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</a:t>
            </a:r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delete_session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(SESSION_ID)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輔助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069080"/>
            <a:ext cx="2468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4069080"/>
            <a:ext cx="45720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069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list_sessions()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列出所有 session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4069080"/>
            <a:ext cx="2468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4069080"/>
            <a:ext cx="45720" cy="4572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4069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get_last_session_id()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4297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最近的 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4069080"/>
            <a:ext cx="2468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4069080"/>
            <a:ext cx="45720" cy="45720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4069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delete_session(id)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4297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永久刪除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/ 155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重點整理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是靈魂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0972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ID 就無法 resume。給每個重要的 session 一個有意義的名稱。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202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≠ delete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9202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保留資料，delete 永久刪除。用完記得清理。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43200"/>
            <a:ext cx="54864" cy="6858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432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需要重新提供權限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7432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on_permission_request 不會被持久化，每次 resume 都要再傳一次。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66160"/>
            <a:ext cx="54864" cy="6858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66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上下文自動恢復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5661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記得之前的對話內容，不需要重新提供背景資訊。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/ 155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建立具名 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保留、resume 恢復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get_last / delete 管理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自動恢復對話上下文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課：自訂 Agent 角色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 AI 不同的人設和專注領域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C8C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「離開再回來，對話不會斷」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/ 155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280160" cy="457200"/>
          </a:xfrm>
          <a:prstGeom prst="rect">
            <a:avLst>
              <a:gd name="adj" fmla="val 10000"/>
            </a:avLst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框架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78308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17830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 Agent 角色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3108960"/>
            <a:ext cx="178308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3108960"/>
            <a:ext cx="17830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200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工具範圍控制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108960"/>
            <a:ext cx="178308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3108960"/>
            <a:ext cx="17830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200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 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專屬 MCP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3108960"/>
            <a:ext cx="178308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108960"/>
            <a:ext cx="17830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200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事件監控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/ 155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自訂 Agent 角色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custom_agents + system_message — 給 AI 專業人設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custom_agents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"code-reviewer", ...},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"doc-writer", ...},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/ 155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為什麼需要自訂角色？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沒有角色設定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是通才，什麼都懂一點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回覆風格不一致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每次都要重新說明背景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有角色設定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是專家，專注特定領域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回覆風格一致且專業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背景已內建在 prompt 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範例角色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965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703320"/>
            <a:ext cx="19659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程式碼審查員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找出安全漏洞、效能問題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3703320"/>
            <a:ext cx="1965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2606040" y="3703320"/>
            <a:ext cx="19659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3749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技術文件撰寫員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 docstring 與註解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703320"/>
            <a:ext cx="1965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3703320"/>
            <a:ext cx="196596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749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測試專家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產生單元測試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1965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6903720" y="3703320"/>
            <a:ext cx="19659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3749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系統架構師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設計架構方案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/ 155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兩種設定的差異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全域指令，影響整個 Session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56616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"請保持簡潔，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回覆不超過 200 字"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適用：語言、格式、長度限制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custom_agents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可切換的專業角色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011680"/>
            <a:ext cx="356616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1031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[{"name":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"code-reviewer"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"你是資深審查專家..."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適用：專業領域、角色切換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兩者可以同時使用 — system_message 提供全域規則，custom_agents 提供專業人設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/ 155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結構定義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097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唯一識別碼（內部使用）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447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"code-reviewer"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"display_name"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顯示名稱（選填）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2677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"程式碼審查員"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54864" cy="685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"description"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角色描述（AI 參考）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"審查程式碼中的臭蟲..."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566160"/>
            <a:ext cx="54864" cy="6858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566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"prompt"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 prompt 指令（核心）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913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"你是一位資深審查專家..."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是最重要的欄位 — 它決定 AI 的專業行為和回覆風格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155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完整範例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custom_agents=[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"code-reviewer"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"display_name":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"程式碼審查員"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"description":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"審查程式碼中的臭蟲與漏洞"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"prompt":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"你是資深審查專家，審查重點："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"安全漏洞、效能、最佳實踐..."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"name":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"doc-writer"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"content":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"請保持簡潔，使用繁體中文回覆"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/ 155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實際運用範例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程式碼審查員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66160" cy="7315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get_user(id):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 = f"SELECT *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users WHERE id={id}"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風險！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使用參數化查詢代替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f-string 拼接...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技術文件撰寫員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3566160" cy="7315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8288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同一段程式碼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get_user(id):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"""根據 ID 查詢使用者資料。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id: 使用者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155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custom_agents 定義專業角色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system_message 設定全域指令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是角色行為的核心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同一程式碼，不同角色不同結果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課：Agent 工具範圍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控制每個 Agent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可以使用哪些工具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883E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「同一個 AI，不同的角色，不同的專業」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/ 155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工具範圍控制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infer + agent — 最小權限原則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"tools":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["grep", "glob", "view"]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"infer":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agent=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"researcher"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/ 155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三個新屬性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155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115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 | None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0" y="1115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Agent 可使用的工具清單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或省略 = 所有工具。指定列表 = 僅能使用該些工具。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48840"/>
            <a:ext cx="54864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67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2167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167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是否允許 runtime 自動選擇此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5328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True(預設) = 自動委派。False = 僅明確要求時啟用。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00400"/>
            <a:ext cx="54864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3218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(session 層級)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32186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Session 時預先選擇的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84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在第一個 prompt 前就啟用指定 Agent。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155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實例：最小權限原則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研究員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6276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僅能查看，不能修改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3657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325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"tools": ["grep", "glob", "view"]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40280"/>
            <a:ext cx="54864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編輯員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679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可以修改檔案和執行指令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377440"/>
            <a:ext cx="3657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"tools": ["view", "edit", "bash"]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91840"/>
            <a:ext cx="54864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全權限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730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可使用所有工具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429000"/>
            <a:ext cx="3657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"tools": None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206240"/>
            <a:ext cx="54864" cy="4114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2062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安全原則：給每個 Agent 僅所需的工具，避免過度授權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/ 155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infer 控制自動選擇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infer: True (預設)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根據使用者意圖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自動委派給適合的 Agent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適合：常用 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infer: False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僅在使用者明確要求時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才會啟用此 Agent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適合：危險操作的 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預先選擇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03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</a:t>
            </a:r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"researcher"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第一個 prompt 前就啟用指定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/ 155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完整範例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custom_agents=[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"researcher",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"description": "分析程式碼結構與安全問題",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</a:t>
            </a:r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["grep", "glob", "view"]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"prompt": "你是程式碼分析專家...",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"editor",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</a:t>
            </a:r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["view", "edit", "bash"]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"prompt": "你是程式碼編輯專家...",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"cleanup",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["bash", "edit", "view"],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"infer": </a:t>
            </a:r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不自動選擇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155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運作流程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0"/>
            <a:ext cx="12801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371600"/>
            <a:ext cx="12801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判斷意圖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3716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371600"/>
            <a:ext cx="12801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(infer=True)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3716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371600"/>
            <a:ext cx="128016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清單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1371600"/>
            <a:ext cx="128016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(僅用允許工具)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實際情境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880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"請分析這段程式碼的安全問題"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researcher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grep, glob, 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"請修復 SQL Injection 漏洞"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3383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editor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view, edit, bash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"請清理未使用的檔案"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0" y="3886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cleanup (infer=False)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886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不會自動選擇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/ 155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限制 Agent 可用工具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控制自動委派行為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預先選擇啟動 Agent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最小權限原則 = 安全第一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 課：Agent 專屬 MCP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給每個 Agent 專屬的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工具服務器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C8C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「給每個 Agent 僅所需的工具 — 安全從權限開始」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/ 155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專屬 MCP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Agent 掛載專屬的外部工具服務器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 "file-explorer",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"mcp_servers":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"filesystem": 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/ 155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vs Agent 層級 MCP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層級（第 07 課）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mcp_servers={...}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Agent 共享同一組 MCP 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適合：通用工具（如 filesystem）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層級（本課）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custom_agents=[{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"mcp_servers": 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僅該 Agent 可使用專屬 MCP Server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適合：專業工具（如 DB Agent 專用）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架構概念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16459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77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MCP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(共享)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3977640"/>
            <a:ext cx="16459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977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MCP-A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977640"/>
            <a:ext cx="16459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977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MCP-B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3977640"/>
            <a:ext cx="16459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3977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 MCP)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/ 155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使用情境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檔案探索員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1234440"/>
            <a:ext cx="2286000" cy="320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 MCP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瀏覽和分析本地檔案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94560"/>
            <a:ext cx="54864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網路研究員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74720" y="2331720"/>
            <a:ext cx="2286000" cy="320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MCP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抓取網頁內容並摘要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91840"/>
            <a:ext cx="54864" cy="9144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資料分析師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MCP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查詢資料庫結構與資料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Agent 只能存取它需要的外部資源 — 最小權限 + 專業分工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/ 155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範例：檔案探索員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"file-explorer"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"display_name": "檔案探索員",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"tools": ["grep", "glob", "view"],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"prompt": "你是檔案系統專家...",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"mcp_servers"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"filesystem":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"command": "npx",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"args": ["-y", "@modelcontextprotocol/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server-filesystem", work_dir],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"tools": ["*"],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mcp_servers 在 agent dict 內部，不是 session 層級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/ 155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範例：網路研究員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"web-researcher"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"prompt": "你是網路研究專家...",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"mcp_servers"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"fetch":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</a:t>
            </a:r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"remote"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"url": "https://router.mcp.so/sse/fetch",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"tools": ["*"],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 Agent，各自的 MCP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36576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749040"/>
            <a:ext cx="45720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file-explorer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 MCP (local)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3749040"/>
            <a:ext cx="36576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3749040"/>
            <a:ext cx="45720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web-researcher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MCP (remote)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/ 155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結合 tools + MCP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4864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限制內建工具，mcp_servers 提供外部服務 — 兩者可以同時使用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68096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"file-explorer",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內建工具：僅允許唯讀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"tools":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["grep", "glob", "view"]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外部服務：掛載 filesystem MCP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"mcp_servers":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{"filesystem": {...}}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能力 = 內建工具 (tools) + 外部服務 (mcp_servers) + 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/ 155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層級 mcp_servers 設定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共享 vs Agent 專屬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tools + mcp_servers + prompt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Agent 只存取所需資源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課：Sub-Agent 事件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 Agent 切換和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執行狀態的事件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「每個 Agent 有自己的工具箱 — 內建 + 外部，精確控制」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/ 155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Sub-Agent 事件監控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即時追蹤 Agent 委派、執行、完成狀態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subagent.selected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Agent 被選定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subagent.started 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開始執行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subagent.completed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成功完成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/ 155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Sub-Agent 生命週期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463040"/>
            <a:ext cx="11887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463040"/>
            <a:ext cx="11887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分析意圖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463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463040"/>
            <a:ext cx="11887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1463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463040"/>
            <a:ext cx="11887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463040"/>
            <a:ext cx="118872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failed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14630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376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463040"/>
            <a:ext cx="11887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deselected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五種事件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1520" y="2834640"/>
            <a:ext cx="45720" cy="2926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subagent.selected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0" y="28346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選定 agent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2834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agent_name, tools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3182112"/>
            <a:ext cx="45720" cy="2926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182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subagent.started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0" y="31821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開始執行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31821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tool_call_id, agent_name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3529584"/>
            <a:ext cx="45720" cy="292608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35295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subagent.completed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40480" y="35295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成功完成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3529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tool_call_id, agent_name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1520" y="3877056"/>
            <a:ext cx="45720" cy="29260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387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subagent.failed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40480" y="38770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發生錯誤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0" y="38770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tool_call_id, error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1520" y="4224528"/>
            <a:ext cx="45720" cy="29260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42245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subagent.deselected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0480" y="42245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切換離開 agent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42245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/ 155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應用場景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 UI 狀態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顯示「程式碼研究員正在工作...」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讓使用者知道哪個 Agent 在執行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執行時間追蹤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記錄每個 Agent 的執行時間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找出效能瓶頸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93192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39319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錯誤處理與重試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subagent.failed 觸發時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自動重試或通知使用者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468880"/>
            <a:ext cx="393192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468880"/>
            <a:ext cx="39319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活動日誌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記錄所有 Agent 的成功/失敗率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用於分析和改進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155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AgentTracker 實作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AgentTracker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handle_event(self, event):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event_type = event.type.value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event_type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"subagent.selected"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 = event.data.agent_display_name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event_type ==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"subagent.started"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self.active_agents[call_id]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"start_time": time.time()}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event_type == </a:t>
            </a:r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"subagent.completed"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elapsed = time.time() - start_time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self.history.append({...})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event_type ==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"subagent.failed"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error = event.data.error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/ 155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 = AgentTracker()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訂閱事件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</a:t>
            </a:r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(tracker.handle_event)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送出任務，tracker 自動追蹤 agent 活動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session.send_and_wait("請分析程式碼...")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輸出範例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[選定] Agent: 程式碼研究員 (工具: grep, glob, view)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[啟動] 程式碼研究員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[完成] 程式碼研究員 (2.3s)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[取消選定] 回到 parent 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/ 155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活動摘要報告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print_summary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print(f"共 {len(self.history)} 次 sub-agent 呼叫")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self.history: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= "OK"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entry["status"] == "completed"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- {name}: {status} ({time:.1f}s)")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活動摘要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共 2 次 sub-agent 呼叫: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程式碼研究員: OK (2.3s)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程式碼編輯員: OK (1.8s)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可延伸應用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297680"/>
            <a:ext cx="246888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4297680"/>
            <a:ext cx="4572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即時進度條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4297680"/>
            <a:ext cx="246888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4297680"/>
            <a:ext cx="45720" cy="3200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效能儀表板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297680"/>
            <a:ext cx="246888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4297680"/>
            <a:ext cx="45720" cy="3200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失敗重試機制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/ 155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種 sub-agent 生命週期事件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session.on() 訂閱即可監控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AgentTracker 追蹤執行時間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建構即時監控與活動日誌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課：OpenLIT 可觀測性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計量、成本追蹤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與效能監控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3B341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「知道 Agent 在做什麼 — 即時監控是控制的第一步」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/ 155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280160" cy="457200"/>
          </a:xfrm>
          <a:prstGeom prst="rect">
            <a:avLst>
              <a:gd name="adj" fmla="val 10000"/>
            </a:avLst>
          </a:prstGeom>
          <a:solidFill>
            <a:srgbClr val="E3B3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可觀測性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370332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370332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 可觀測性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3108960"/>
            <a:ext cx="370332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108960"/>
            <a:ext cx="370332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15 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可觀測性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/ 155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OpenLIT 可觀測性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計量、成本追蹤、效能監控 — 一站式儀表板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openlit.init(otlp_endpoint=...)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CopilotClient(SubprocessConfig(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telemetry={...}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/ 155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架構概覽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28600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0"/>
            <a:ext cx="22860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417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openlit.init()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560320"/>
            <a:ext cx="228600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560320"/>
            <a:ext cx="22860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CLI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TelemetryConfig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37160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5603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645920"/>
            <a:ext cx="2560320" cy="155448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691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:4318 (OTLP)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164592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2286000" cy="155448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645920"/>
            <a:ext cx="2286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91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 (Web UI)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雙層遠測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3657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023360"/>
            <a:ext cx="45720" cy="4572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openlit.init() — 應用層 auto-instrumentation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3657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4023360"/>
            <a:ext cx="45720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TelemetryConfig — SDK 層 CLI 子程序遠測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/ 155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TelemetryConfig 欄位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otlp_endpoint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0972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HTTP 端點 URL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91640"/>
            <a:ext cx="45720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file_path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691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JSON-lines 追蹤輸出檔案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286000"/>
            <a:ext cx="45720" cy="5029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exporter_type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2860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"otlp-http" 或 "file"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880360"/>
            <a:ext cx="45720" cy="5029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880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scope 名稱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474720"/>
            <a:ext cx="45720" cy="5029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474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capture_content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3474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474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是否擷取 prompt / response 內容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/ 155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可觀察指標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LLM 呼叫的完整 span 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09728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用量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completion / 總計 tokens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09728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請求到回覆的時間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60320"/>
            <a:ext cx="256032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依據模型定價估算的 API 費用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5603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2560320"/>
            <a:ext cx="25603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失敗請求的比例與堆疊追蹤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 http://localhost:3000 查看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/ 155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完整範例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CopilotClient, SubprocessConfig, PermissionHandler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"http://127.0.0.1:4318"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應用層 auto-instrumentation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openlit.</a:t>
            </a:r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(otlp_endpoint=ENDPOINT)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SDK 層遠測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CopilotClient(SubprocessConfig(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telemetry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"otlp_endpoint":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"capture_content":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"source_name":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"my-app"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照常使用 session，traces 自動送往 OpenLIT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/ 155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快速設定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OpenLIT (Docker)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444752"/>
            <a:ext cx="70408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4447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3000:3000 -p 4318:4318 openlit/openlit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安裝依賴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221992"/>
            <a:ext cx="70408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22199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"github-copilot-sdk[telemetry]" openlit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執行範例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2999232"/>
            <a:ext cx="70408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299923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411480" cy="41148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 Dashboard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71600" y="3776472"/>
            <a:ext cx="70408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7764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可能需要數秒後才會出現在 Dashboard 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/ 155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雙層遠測：openlit + TelemetryConfig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 Dashboard 一站式監控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/ Tokens / 延遲 / 成本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一行指令即可啟動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15 課：Langfuse 可觀測性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另一個熱門的 LLM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可觀測性平台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「看不見的 AI 操作，現在看得見」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 155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Langfuse 可觀測性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手動事件映射 — 完全控制 LLM 追蹤粒度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session.on(tracer.handle_event)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SDK events → Langfuse traces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generations + tool spans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/ 155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Langfuse 核心物件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一次完整互動的追蹤紀錄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每個使用者問題一條 trace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74520"/>
            <a:ext cx="54864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內的執行區段，可巢狀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span、turn span、tool span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651760"/>
            <a:ext cx="54864" cy="6400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專用 span，記錄 model/tokens/cost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LLM 回覆一個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29000"/>
            <a:ext cx="54864" cy="6400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429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0" y="3429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時間點事件，無持續時間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記錄錯誤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/ 155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 → Langfuse 映射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事件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0" y="1005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物件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1005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記錄內容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34440"/>
            <a:ext cx="45720" cy="38404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34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user.message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span + trace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trace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1709928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709928"/>
            <a:ext cx="45720" cy="38404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709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turn_start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17099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span (子 span)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17099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LLM turn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185416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185416"/>
            <a:ext cx="45720" cy="38404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1854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→ message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1854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 (合併)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21854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tokens + cost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2660904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660904"/>
            <a:ext cx="45720" cy="38404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6609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tool.start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26609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span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6609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工具名稱、參數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3136392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136392"/>
            <a:ext cx="45720" cy="384048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136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tool.complete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74720" y="31363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span.end()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31363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成功/失敗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" y="3611880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3611880"/>
            <a:ext cx="45720" cy="38404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611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session.idle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74720" y="3611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span.end()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完成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4160520"/>
            <a:ext cx="54864" cy="4572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41605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合併策略：usage 先到時暫存 model/tokens/cost，message 到達時合併建立 generation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/ 155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 結構示意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user.message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1234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建立 trace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turn-0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508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span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usage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暫存 token 用量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2057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message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057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331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└── turn_end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606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tool:bash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606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tool:bash (complete)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span.end()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turn-1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154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第二個 turn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429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usage → message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3429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703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└── turn_end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977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session.idle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977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trace 完成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/ 155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LangfuseTracer 核心程式碼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user.message → 建立 trace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 = Langfuse.create_trace_id()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langfuse.start_span(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name="copilot-request", input=prompt,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trace_context={"trace_id": trace_id})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root.update_trace(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user_id="kuan6"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turn_start → 子 span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= root.start_span(name="turn-0")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 + message → generation（合併）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= turn.start_observation(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name="llm-call", </a:t>
            </a:r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as_type="generation"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model=usage["model"], output=content,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usage_details={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"input": 100, "output": 50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gen.end()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session.idle → trace 完成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root.end()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langfuse.</a:t>
            </a:r>
            <a:pPr indent="0" marL="0">
              <a:buNone/>
            </a:pPr>
            <a:r>
              <a:rPr lang="en-US" sz="10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必呼叫！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/ 155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 = Langfuse(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public_key="pk-lf-...", secret_key="sk-lf-...",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host="https://cloud.langfuse.com"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= LangfuseTracer(langfuse,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session_id="demo"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user_id="kuan6"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session.on(tracer.handle_event)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照常使用 session，traces 自動建立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可觀察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45720" cy="2743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3840480"/>
            <a:ext cx="45720" cy="2743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840480"/>
            <a:ext cx="45720" cy="2743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用量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187952"/>
            <a:ext cx="45720" cy="2743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87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4187952"/>
            <a:ext cx="45720" cy="2743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4187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187952"/>
            <a:ext cx="45720" cy="27432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187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/ 155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OpenLIT vs Langfuse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19456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Shape 2"/>
          <p:cNvSpPr/>
          <p:nvPr/>
        </p:nvSpPr>
        <p:spPr>
          <a:xfrm>
            <a:off x="3017520" y="1051560"/>
            <a:ext cx="274320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1051560"/>
            <a:ext cx="256032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 (第 14 課)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 (本課)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14630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5852160" y="14630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協定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0" y="1463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/ OpenTelemetry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463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自有 SDK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9202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19202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19202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920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整合方式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08960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TelemetryConfig 自動收集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1920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events 手動映射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3774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017520" y="23774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0" y="23774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377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控制粒度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08960" y="2377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自動（CLI 內部操作）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377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完全自訂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8346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28346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2160" y="28346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2834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額外功能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08960" y="2834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metrics、成本分析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2834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evaluations、prompt mgmt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2918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Shape 32"/>
          <p:cNvSpPr/>
          <p:nvPr/>
        </p:nvSpPr>
        <p:spPr>
          <a:xfrm>
            <a:off x="3017520" y="32918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Shape 33"/>
          <p:cNvSpPr/>
          <p:nvPr/>
        </p:nvSpPr>
        <p:spPr>
          <a:xfrm>
            <a:off x="5852160" y="32918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08960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 Docker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291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Langfuse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</a:t>
            </a:r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快速上手，自動收集     </a:t>
            </a:r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完全控制，LLM 語意層級追蹤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/ 155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events → Langfuse traces 映射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/ Span / Generation / Event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+ message 合併策略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flush() 程式結束前必呼叫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16 課：上下文管理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infinite_sessions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處理長對話的上下文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8A6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「手動映射 = 完全控制 — 你決定追蹤什麼」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/ 155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280160" cy="457200"/>
          </a:xfrm>
          <a:prstGeom prst="rect">
            <a:avLst>
              <a:gd name="adj" fmla="val 10000"/>
            </a:avLst>
          </a:prstGeom>
          <a:solidFill>
            <a:srgbClr val="FF7B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安全與上下文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370332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37033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16 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上下文管理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3108960"/>
            <a:ext cx="370332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108960"/>
            <a:ext cx="37033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17 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安全設定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/ 155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上下文管理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infinite_sessions — 自動壓縮，無限對話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infinite_sessions={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"enabled":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"background_compaction_threshold": 0.80,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/ 155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為什麼上下文會爆？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9436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工具輸出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印出整個檔案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數千～數萬 tokens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28800"/>
            <a:ext cx="54864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長對話歷史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多輪問答累積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線性增長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560320"/>
            <a:ext cx="54864" cy="5943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560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 system message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560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塞入整份文件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固定成本，每次都付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91840"/>
            <a:ext cx="54864" cy="5943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291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重複資訊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291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每輪重新提供相同上下文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浪費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114800"/>
            <a:ext cx="54864" cy="45720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114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上下文滿了 → 程式失敗、AI 回覆品質下降、費用飆升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/ 155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infinite_sessions 運作原理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上下文使用率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solidFill>
            <a:srgbClr val="3FB95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463040"/>
            <a:ext cx="1005840" cy="457200"/>
          </a:xfrm>
          <a:prstGeom prst="rect">
            <a:avLst/>
          </a:prstGeom>
          <a:solidFill>
            <a:srgbClr val="E3B341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1463040"/>
            <a:ext cx="365760" cy="457200"/>
          </a:xfrm>
          <a:prstGeom prst="rect">
            <a:avLst/>
          </a:prstGeom>
          <a:solidFill>
            <a:srgbClr val="FF7B72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89320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95160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正常對話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背景壓縮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377440"/>
            <a:ext cx="54864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377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~ 80%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377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正常運作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不做任何壓縮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017520"/>
            <a:ext cx="54864" cy="5029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017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 ~ 95%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3017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背景壓縮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3017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不影響回應速度，自動壓縮舊對話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657600"/>
            <a:ext cx="54864" cy="5029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 ~ 100%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657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阻塞壓縮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3657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必須等壓縮完成才能繼續（避免溢出）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 = 讓 LLM 摘要舊對話，保留重要資訊但大幅減少 token 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/ 155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程式碼實作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啟用 infinite sessions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model="claude-sonnet-4.6",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infinite_sessions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"enabled": </a:t>
            </a:r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"background_compaction_threshold": </a:t>
            </a:r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"buffer_exhaustion_threshold":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監聽壓縮事件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event.type == </a:t>
            </a:r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CONTEXT_COMPACTION_STARTED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print("壓縮開始...")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CONTEXT_COMPACTION_COMPLETED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print("壓縮完成！")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session.on(handle_event)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/ 155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上下文管理策略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61288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精簡 System Message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9903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只放關鍵規則，細節讓 agent 用工具查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分段處理長任務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762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每個子任務用獨立 session，乾淨上下文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15768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用工具代替內嵌資料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535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agent 需要時才讀，不是一開始就塞進 prompt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93008"/>
            <a:ext cx="411480" cy="41148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 Compaction 閾值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7307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根據任務特性調整背景/阻塞壓縮時機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閾值調整建議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長對話: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4160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/ 0.85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短任務: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4160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 / 0.98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大量工具: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0" y="4160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 / 0.80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/ 155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三種方式對比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01168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34640" y="1051560"/>
            <a:ext cx="228600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無壓縮（預設）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12080" y="1051560"/>
            <a:ext cx="228600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infinite_sessions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0" y="1051560"/>
            <a:ext cx="137160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051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手動分段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2011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146304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5212080" y="146304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463040"/>
            <a:ext cx="13716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上下文限制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1463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硬上限，超過失敗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463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自動壓縮，無限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1463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每段完整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1965960"/>
            <a:ext cx="2011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2834640" y="196596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196596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1965960"/>
            <a:ext cx="13716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資訊保留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100%（但空間有限）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壓縮後丟失細節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1965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每段獨立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468880"/>
            <a:ext cx="2011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46888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246888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0" y="2468880"/>
            <a:ext cx="13716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2608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短任務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長對話、探索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0" y="2468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批次、模組化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2971800"/>
            <a:ext cx="2011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Shape 34"/>
          <p:cNvSpPr/>
          <p:nvPr/>
        </p:nvSpPr>
        <p:spPr>
          <a:xfrm>
            <a:off x="2834640" y="297180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Shape 35"/>
          <p:cNvSpPr/>
          <p:nvPr/>
        </p:nvSpPr>
        <p:spPr>
          <a:xfrm>
            <a:off x="5212080" y="297180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2971800"/>
            <a:ext cx="13716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實作成本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92608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一行設定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2971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需設計拆分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分段處理範例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["auth", "api", "database"]: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client.create_session(...)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session.send_and_wait(f"重構 {module} 的錯誤處理")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/ 155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參數說明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822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預設: False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是否啟用 infinite sessions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54864" cy="8229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background_compaction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_threshold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預設: 0.80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上下文使用率達此比例時，背景開始壓縮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108960"/>
            <a:ext cx="54864" cy="82296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buffer_exhaustion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_threshold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預設: 0.95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上下文使用率達此比例時，阻塞式壓縮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resume_session 時也可以啟用或調整 infinite_sessions 參數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/ 155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infinite_sessions 自動壓縮上下文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背景壓縮 (80%) vs 阻塞壓縮 (95%)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四種管理策略減少上下文壓力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壓縮會丟失細節 — 關鍵資訊要放對地方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17 課：安全設定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working_directory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Agent 存取範圍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B72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「能無限對話不代表什麼都該塞進去」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/ 155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安全設定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Agent 關在資料夾裡 — 三層防護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working_directory=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"/sandbox"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on_permission_request: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shell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/ 155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approve_all 的風險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approve_all = 把主機的鑰匙全交給 AI，它可以讀寫整台機器的任何檔案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/home/user/my-project/src/app.py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你期望的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77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/home/user/.ssh/id_rsa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偷看 SSH Key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80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880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/etc/nginx/nginx.conf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改壞系統設定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832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383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/home/user/another-project/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刪掉別的專案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023360"/>
            <a:ext cx="54864" cy="5486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0233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核心問題：如何讓 Agent 只能在指定的資料夾內操作？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/ 155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三層防護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298448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working_directory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Agent 的工作目錄（軟限制）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157276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僅設 CWD，無法阻擋絕對路徑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48840"/>
            <a:ext cx="54864" cy="8686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350008"/>
            <a:ext cx="411480" cy="41148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 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強制檢查路徑，拒絕越界操作（硬限制）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核心防護，用 abspath 防止 ../ 穿越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200400"/>
            <a:ext cx="54864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3401568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+ system_message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依操作類型過濾 + 軟性邊界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367588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 shell、告訴 AI 邊界在哪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多層組合 — 即使單一層被突破，其他層仍然有效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/ 155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1 層：working_directory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</a:t>
            </a:r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working_directory=</a:t>
            </a:r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"/home/user/my-project"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560320"/>
            <a:ext cx="54864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working_directory 只是設 CWD，它不會阻止 Agent 用絕對路徑跨到外面！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working_directory vs hook 路徑檢查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絕對路徑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無法阻擋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一律檢查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 穿越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無法阻擋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abspath 解析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指令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在該目錄執行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可檢查內容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/ 155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2 層：路徑檢查 Hook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017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ALLOWED_DIR = os.path.abspath(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"/home/user/my-project"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is_path_allowed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resolved = os.path.</a:t>
            </a:r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abspath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resolved.startswith(ALLOWED_DIR + os.sep)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(input_data, invocation):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tool_name = input_data.get("toolName")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tool_name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("read", "write", "edit"):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is_path_allowed(tool_input):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{"permissionDecision":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路徑解析範例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/my-project/src/app.py </a:t>
            </a:r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  </a:t>
            </a:r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/my-project/../.ssh/id_rsa → /home/.ssh/id_rsa </a:t>
            </a:r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  </a:t>
            </a:r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/etc/passwd </a:t>
            </a:r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/ 155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3 層：權限 + 系統訊息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5720" cy="1828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on_permission_request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"shell":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denied-by-rules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完全禁止 shell = 最安全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45720" cy="18288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"你只能操作 /sandbox 內的檔案。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不要嘗試存取此目錄以外。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不要刪除檔案。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修改前先讀取確認。"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組合效果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45720" cy="2560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working_directory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 CWD → 相對路徑基準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58768"/>
            <a:ext cx="45720" cy="256032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58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8587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abspath 檢查 → 阻擋絕對路徑 + ../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151376"/>
            <a:ext cx="45720" cy="25603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513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41513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 shell → 阻擋任意指令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443984"/>
            <a:ext cx="45720" cy="25603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439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4439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 AI 主動越界機率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/ 155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危險指令攞截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DANGEROUS_PATTERNS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"rm -rf", "rm -r ", "rmdir", "del /s",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"format ", "mkfs", "dd if=", "&gt; /dev/",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"DROP TABLE", "DROP DATABASE",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":(){",  # fork bomb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on_pre_tool_use hook 中，檢查 shell 指令是否包含這些 pattern，有則立即 deny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三個範例情境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256032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61188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484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基本 Sandbox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內讀寫✓，越界被攞截✗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611880"/>
            <a:ext cx="256032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361188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6484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路徑穿越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 嘗試離開被 abspath 攞截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611880"/>
            <a:ext cx="256032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3611880"/>
            <a:ext cx="25603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6484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3: 完整防護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三層全開，最安全設定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/ 155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working_directory 單獨不夠安全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on_pre_tool_use + abspath = 核心防護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可完全禁止 shell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多層防護 = 縱深防禦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18 課：Agent 記憶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Hooks + Events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實作跨 Session 記憶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「信任 AI，但要把它關在籠子裡」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/ 155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280160" cy="457200"/>
          </a:xfrm>
          <a:prstGeom prst="rect">
            <a:avLst>
              <a:gd name="adj" fmla="val 10000"/>
            </a:avLst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記憶系統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370332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37033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18 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記憶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3108960"/>
            <a:ext cx="370332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108960"/>
            <a:ext cx="37033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19 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結構化記憶壓縮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/ 155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記憶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Session 保留上下文 — Hooks + Events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讀記憶 → system_message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追蹤對話 → session.on()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 總結 → 寫入 memory.json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/ 155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問題：Agent 每次都失憶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使用者: "我的專案用 FastAPI + PostgreSQL"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"好的，我記住了"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使用者: "幫我加一個 API endpoint"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"你用什麼框架？"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完全忘了！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解法：檔案記憶 + system_message + Events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1920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429000"/>
            <a:ext cx="192024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讀記憶檔案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system_message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290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3429000"/>
            <a:ext cx="1920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3429000"/>
            <a:ext cx="19202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追蹤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4290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429000"/>
            <a:ext cx="1920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429000"/>
            <a:ext cx="192024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結束前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送「請總結」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產生摘要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4290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3429000"/>
            <a:ext cx="1920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3429000"/>
            <a:ext cx="192024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下次讀取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/ 155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三個關鍵機制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51560"/>
            <a:ext cx="54864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252728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52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讀取記憶：system_message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 Session 前讀取記憶檔案，組成 system_message 注入。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在整個 session 中都能看到。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03120"/>
            <a:ext cx="54864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30428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304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追蹤對話：Events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4688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session.on(ASSISTANT_MESSAGE) 追蹤所有 AI 回覆。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on_session_end 拿不到對話內容，必須用 Events。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154680"/>
            <a:ext cx="54864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3355848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寫入記憶：AI 總結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520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結束前送「請總結」 prompt，讓 AI 自己做摘要。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摘要寫入 memory.json，下次 session 讀取。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60520"/>
            <a:ext cx="54864" cy="4572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1605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on_session_end 拿不到對話內容（只有 reason），總結要在結束前做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/ 155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讀取記憶 → system_message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build_memory_system_message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 = load_memory()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讀 memory.json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summaries = memory.get("summaries", [])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memory_text = "=== 先前的對話記憶 ===\n"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s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enumerate(summaries, 1):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memory_text += f"第 {i} 次對話: {s}\n"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{"content": memory_text}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建 session 時傳入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client.create_session(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</a:t>
            </a:r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build_memory_system_message()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system_message 三種模式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246888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977640"/>
            <a:ext cx="45720" cy="5486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{"content": "..."}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append（預設）— 追加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3977640"/>
            <a:ext cx="246888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3977640"/>
            <a:ext cx="45720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{"mode": "replace", ...}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42519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完全取代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3977640"/>
            <a:ext cx="246888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3977640"/>
            <a:ext cx="45720" cy="5486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{"mode": "customize", ...}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逐區段控制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/ 155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②③ 追蹤 + 總結 + 寫入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Events 追蹤對話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conversation_log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SessionEventType.ASSISTANT_MESSAGE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conversation_log.append(event.data.content)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session.on(handle_event)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多輪對話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結束前請 AI 總結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"請用 2-3 句話總結我們的對話。"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寫入記憶檔案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load_memory()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memory["summaries"].append(summary.data.content)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save_memory(memory)  </a:t>
            </a:r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memory.json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/ 155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記憶檔案格式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memory.json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"summaries":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"第 1 次對話: 討論了 FastAPI 專案架構，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決定用 PostgreSQL...",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"第 2 次對話: 新增了 /users endpoint，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加入了 JWT 認證..."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"updated_at": "2025-01-15T10:30:00"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注入記憶的三種方式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256032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931920"/>
            <a:ext cx="45720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3931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3931920"/>
            <a:ext cx="256032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3931920"/>
            <a:ext cx="45720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on_user_prompt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modifiedPrompt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動態記憶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256032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3931920"/>
            <a:ext cx="45720" cy="6400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on_session_start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additionalContext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3931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不穩定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preview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/ 155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兩個範例情境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建立記憶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多輪對話（FastAPI + PostgreSQL）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Events 追蹤所有 AI 回覆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結束前請 AI 總結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摘要寫入 memory.json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驗證：memory.json 被建立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驗證記憶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6002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 session 讀取 memory.json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摘要注入 system_message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問「上次聊了什麼？」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Agent 能回答！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驗證：Agent 記得上次內容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on_session_end vs 結束前 prompt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拿到對話內容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3886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3886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AI 做摘要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4160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寫檔案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4434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4434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/ 155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system_message 注入記憶（最可靠）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追蹤 AI 回覆內容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結束前請 AI 總結，寫入檔案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on_session_end 不適合做記憶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19 課：結構化記憶壓縮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Compact Prompt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壓縮和結構化記憶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2C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「Agent 不記得上次 — 除非你讓它記」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/ 155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結構化記憶壓縮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借鏡 Claude Code 的 Compact Prompt 設計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&lt;analysis&gt; AI 思考過程 &lt;/analysis&gt;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&lt;summary&gt;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做了什麼  2. 關鍵事實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錯誤修復  4. 下一步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&lt;/summary&gt;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/ 155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自由格式 vs 結構化摘要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18 課：「請用 2-3 句話總結」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錯誤修復常被省略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待辦事項通常不提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品質不穩定，每次不同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檔名、技術細節常丟失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本課：Compact Prompt 結構化 4 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錯誤修復專屬段落記錄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下一步永遠有建議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結構化約束，品質穩定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關鍵事實必定被保留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四段式摘要結構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965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977640"/>
            <a:ext cx="19659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142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做了什麼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977640"/>
            <a:ext cx="1965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3977640"/>
            <a:ext cx="19659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0142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關鍵事實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977640"/>
            <a:ext cx="1965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3977640"/>
            <a:ext cx="196596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40142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錯誤修復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3977640"/>
            <a:ext cx="1965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3977640"/>
            <a:ext cx="19659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0142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下一步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/ 155</a:t>
            </a:r>
            <a:endParaRPr lang="en-US" sz="9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&lt;analysis&gt; + &lt;summary&gt;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先思考再回答 — 提升摘要品質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&lt;analysis&gt;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草稿區 — AI 整理思路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asked about FastAPI...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 error was due to missing...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used PostgreSQL with...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不存入記憶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371600"/>
            <a:ext cx="54864" cy="164592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&lt;summary&gt;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正式報告 — 結構化 4 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做了什麼: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關鍵事實: FastAPI, PostgreSQL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錯誤修復: 422 → 加 response_model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下一步: 加入認證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存入記憶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處理流程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192024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566160"/>
            <a:ext cx="192024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56616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68880" y="3566160"/>
            <a:ext cx="192024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3566160"/>
            <a:ext cx="192024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246888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輸出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summary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356616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192024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566160"/>
            <a:ext cx="192024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剥除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 summary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356616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3566160"/>
            <a:ext cx="192024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3566160"/>
            <a:ext cx="19202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memory.json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/ 155</a:t>
            </a:r>
            <a:endParaRPr lang="en-US" sz="9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9 段 vs 本課 4 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94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188720"/>
            <a:ext cx="365760" cy="3657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accomplished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097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合併原版 1,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28800"/>
            <a:ext cx="54864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9202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1828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828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合併原版 2, 3, 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560320"/>
            <a:ext cx="54864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2651760"/>
            <a:ext cx="365760" cy="36576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2560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fixes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560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保留原版 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291840"/>
            <a:ext cx="54864" cy="5943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3383280"/>
            <a:ext cx="365760" cy="36576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54480" y="3291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3291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合併原版 7, 8, 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任務型 Agent 不需要記住「使用者的每句話」— 只需知道做了什麼、什麼重要、接下來做什麼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/ 155</a:t>
            </a:r>
            <a:endParaRPr lang="en-US" sz="9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進階：獨立 Session + 便宜模型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320040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32004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344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主對話 Session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claude-sonnet-4.6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(強模型)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收集對話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紀錄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 Session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(便宜、快速)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為什麼用獨立 Session？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256032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4612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模型成本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摘要不需要強模型，用便宜的就夠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56032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324612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風險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 預設 60 秒，摘要可能超時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246120"/>
            <a:ext cx="256032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3246120"/>
            <a:ext cx="25603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非阻塞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+ 事件監聽，不卡住主流程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</a:t>
            </a:r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(prompt)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非阻塞送出，事件監聽等結果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/ 155</a:t>
            </a:r>
            <a:endParaRPr lang="en-US" sz="9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核心函式對照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(本課)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1005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(TS)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594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get_compact_prompt()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234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getCompactPrompt()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536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 compact prompt（含對話紀錄）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965960"/>
            <a:ext cx="54864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6596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format_compact_summary()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96596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formatCompactSummary()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2677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剥除 analysis、提取 summary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697480"/>
            <a:ext cx="54864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69748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build_continuation_message()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69748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getCompactUserSummaryMessage()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9992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包裝成下次 session 的上下文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429000"/>
            <a:ext cx="54864" cy="5943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42900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summarize_conversation()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42900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7307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session + 便宜模型做摘要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除錯導向: "重點記錄錯誤訊息和修復步驟"   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個人化: "重點記錄使用者的個人資訊和偏好"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/ 155</a:t>
            </a:r>
            <a:endParaRPr lang="en-US" sz="9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format_compact_summary()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format_compact_summary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(raw_summary):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raw_summary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剥除 analysis（草稿不保留）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re.sub(r"&lt;analysis&gt;[\s\S]*?&lt;/analysis&gt;", "", result)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提取 summary 內容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= re.search(r"&lt;summary&gt;([\s\S]*?)&lt;/summary&gt;", result)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f"Summary:\n{match.group(1).strip()}"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清理多餘空行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re.sub(r"\n\n+", "\n\n", result).strip()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build_continuation_message()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"This session is being continued from a previous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conversation that ran out of context...\n"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f"{formatted}\n"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"Continue the conversation from where it left off."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/ 155</a:t>
            </a:r>
            <a:endParaRPr lang="en-US" sz="9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Prompt 結構化 4 段摘要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&lt;analysis&gt; 思考 + &lt;summary&gt; 輸出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剥除草稿、提取精華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session + 便宜模型省成本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系列完成！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19 課完整涵蓋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SDK Python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從入門到進階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 (1-4) → 工具 (5-8)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(9-13) → 可觀測 (14-15)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 (16-19)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「結構化的記憶 = 更聯明的 Agent」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/ 155</a:t>
            </a:r>
            <a:endParaRPr lang="en-US" sz="9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543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5430" cy="731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5430" cy="7315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543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5430" cy="7315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5430" cy="73152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5430" cy="731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課程完結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恭喜完成全部 19 堂 Copilot SDK Python 課程！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8745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926080"/>
            <a:ext cx="18745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基礎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Events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· Permissions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926080"/>
            <a:ext cx="18745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2926080"/>
            <a:ext cx="187452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30175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工具擴充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88920" y="3383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Hooks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BYOK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18745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926080"/>
            <a:ext cx="18745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0175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系統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383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Scoping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Sub-agents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2926080"/>
            <a:ext cx="18745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12280" y="2926080"/>
            <a:ext cx="1874520" cy="457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0175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生產就緒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3383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· Safety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Memory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297680"/>
            <a:ext cx="9144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現在你已掌握完整的 Copilot SDK Python 開發技能，開始打造你的 AI Agent 吧！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/ 155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SDK Python 教學系列 — 完整版</dc:title>
  <dc:subject>PptxGenJS Presentation</dc:subject>
  <dc:creator>Claude</dc:creator>
  <cp:lastModifiedBy>Claude</cp:lastModifiedBy>
  <cp:revision>1</cp:revision>
  <dcterms:created xsi:type="dcterms:W3CDTF">2026-04-01T15:40:16Z</dcterms:created>
  <dcterms:modified xsi:type="dcterms:W3CDTF">2026-04-01T15:40:16Z</dcterms:modified>
</cp:coreProperties>
</file>